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798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about J. R. Rice's 1968 paper, "A Path Independent Integral and the Approximate Analysis of Strain Concentration by Notches and Cracks." The central idea is surprisingly compact: for a crack or notch in a two-dimensional deformation field, you can draw a contour around the tip and calculate a quantity called J. Under the assumptions of the paper, that value is the same for every valid contour around the tip. So the paper is not just about a new equation. It is about a new way to think about crack-tip severity.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Cracks are difficult because they are very local problems with structural consequences. In a real component, the load may be applied far away and the geometry may be large and complicated. But failure often starts in a very small region near the crack tip, where stress and strain become highly concentrated. Rice's paper matters because it gives a way to connect the global loading of the body to the local intensity of the crack-tip deformation, even when the material response is nonlinear in the deformation-theory sense.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work, one major difficulty was that crack-tip fields were mathematically hard to determine, especially for nonlinear materials. If the material is linear elastic, the near-tip stress field has a known singular form and the stress intensity factor tells you how strong that field is. But when plastic deformation appears near the crack tip, the local field becomes much more complicated. Rice's practical question was whether we can characterize the crack tip without solving the entire detailed local boundary-value problem every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Rice's core move was to define a contour integral around the crack or notch tip. The contour can be close to the tip, where deformation is intense, or farther away, where the field may be easier to know from the loading and geometry. The remarkable result is that the integral has the same value on all valid paths. That means J can be evaluated where the mathematics or measurements are convenient, and then interpreted as information about the near-tip region.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useful way to think about this is to compare a far contour and a near contour. The near contour directly samples the high strain and stress concentration, but that is exactly where the field is hardest to describe. The far contour is farther away, where stresses and displacements may be easier to estimate. Path independence lets these two views communicate. J acts like a bridge between the accessible global problem and the dangerous local region.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essential equation, without deriving every line. J equals the contour integral of W dy minus T dot partial u by partial x times ds. W is the strain energy density. T is the traction vector on the contour. u is displacement, and x is the crack extension direction. The first term is tied to stored energy. The second term accounts for mechanical work associated with tractions and displacement gradients along the contour. The proof uses equilibrium and Green's theorem: the area contribution between two contours vanishes, so both contours give the same J.</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importance of J becomes clearer when we look at what it connects. First, Rice gives J an energy interpretation: it equals the rate at which potential energy decreases as the crack or notch length increases. Second, in small-scale yielding it reduces to the familiar linear elastic result. For Mode I plane strain, J equals one minus Poisson's ratio squared, times K-I squared, divided by Young's modulus. Third, J is connected to the near-tip deformation field. So Rice generalized classical fracture mechanics rather than replacing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the J-integral became one of the central ideas in elastic-plastic fracture mechanics. It connected Griffith and Irwin energy ideas to nonlinear material behavior, and it set the stage for the Hutchinson-Rice-Rosengren crack-tip fields. But the paper is careful about its limits. The path independence applies under assumptions such as two-dimensional fields, no body forces, traction-free crack surfaces, and elastic or deformation-theory elastic-plastic behavior. Rice also notes that an analogous integral had not been successfully formulated for incremental plasticity.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takeaway is this: Rice turned a hard local fracture problem into a portable energy measure. Instead of needing the full detailed crack-tip solution from the start, we can calculate J on a convenient contour and use it to characterize crack-tip severity. The genius of the paper is not that it solves every crack problem. It gives engineers and researchers a quantity that makes nonlinear crack problems discussable, measurable, and comparable. That quantity is J.</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w="12700">
            <a:solidFill>
              <a:srgbClr val="F5F7FA"/>
            </a:solidFill>
            <a:prstDash val="solid"/>
          </a:ln>
        </p:spPr>
        <p:txBody>
          <a:bodyPr/>
          <a:lstStyle/>
          <a:p>
            <a:endParaRPr lang="en-AE"/>
          </a:p>
        </p:txBody>
      </p:sp>
      <p:sp>
        <p:nvSpPr>
          <p:cNvPr id="3" name="Text 1"/>
          <p:cNvSpPr/>
          <p:nvPr/>
        </p:nvSpPr>
        <p:spPr>
          <a:xfrm>
            <a:off x="502920" y="411480"/>
            <a:ext cx="1828800" cy="228600"/>
          </a:xfrm>
          <a:prstGeom prst="rect">
            <a:avLst/>
          </a:prstGeom>
          <a:noFill/>
          <a:ln/>
        </p:spPr>
        <p:txBody>
          <a:bodyPr wrap="square" lIns="0" tIns="0" rIns="0" bIns="0" rtlCol="0" anchor="ctr"/>
          <a:lstStyle/>
          <a:p>
            <a:pPr marL="0" indent="0">
              <a:buNone/>
            </a:pPr>
            <a:r>
              <a:rPr lang="en-US" sz="1100" b="1" dirty="0">
                <a:solidFill>
                  <a:srgbClr val="1F6B8F"/>
                </a:solidFill>
                <a:latin typeface="Arial" pitchFamily="34" charset="0"/>
                <a:ea typeface="Arial" pitchFamily="34" charset="-122"/>
                <a:cs typeface="Arial" pitchFamily="34" charset="-120"/>
              </a:rPr>
              <a:t>Rice 1968</a:t>
            </a:r>
            <a:endParaRPr lang="en-US" sz="1100" dirty="0"/>
          </a:p>
        </p:txBody>
      </p:sp>
      <p:sp>
        <p:nvSpPr>
          <p:cNvPr id="4" name="Text 2"/>
          <p:cNvSpPr/>
          <p:nvPr/>
        </p:nvSpPr>
        <p:spPr>
          <a:xfrm>
            <a:off x="502920" y="713232"/>
            <a:ext cx="4937760" cy="502920"/>
          </a:xfrm>
          <a:prstGeom prst="rect">
            <a:avLst/>
          </a:prstGeom>
          <a:noFill/>
          <a:ln/>
        </p:spPr>
        <p:txBody>
          <a:bodyPr wrap="square" lIns="0" tIns="0" rIns="0" bIns="0" rtlCol="0" anchor="ctr"/>
          <a:lstStyle/>
          <a:p>
            <a:pPr marL="0" indent="0">
              <a:buNone/>
            </a:pPr>
            <a:r>
              <a:rPr lang="en-US" sz="2800" b="1" dirty="0">
                <a:solidFill>
                  <a:srgbClr val="1F2933"/>
                </a:solidFill>
                <a:latin typeface="Arial" pitchFamily="34" charset="0"/>
                <a:ea typeface="Arial" pitchFamily="34" charset="-122"/>
                <a:cs typeface="Arial" pitchFamily="34" charset="-120"/>
              </a:rPr>
              <a:t>A Path-Independent Integral</a:t>
            </a:r>
            <a:endParaRPr lang="en-US" sz="2800" dirty="0"/>
          </a:p>
        </p:txBody>
      </p:sp>
      <p:sp>
        <p:nvSpPr>
          <p:cNvPr id="5" name="Text 3"/>
          <p:cNvSpPr/>
          <p:nvPr/>
        </p:nvSpPr>
        <p:spPr>
          <a:xfrm>
            <a:off x="530352" y="1261872"/>
            <a:ext cx="4572000" cy="420624"/>
          </a:xfrm>
          <a:prstGeom prst="rect">
            <a:avLst/>
          </a:prstGeom>
          <a:noFill/>
          <a:ln/>
        </p:spPr>
        <p:txBody>
          <a:bodyPr wrap="square" lIns="0" tIns="0" rIns="0" bIns="0" rtlCol="0" anchor="ctr"/>
          <a:lstStyle/>
          <a:p>
            <a:pPr marL="0" indent="0">
              <a:buNone/>
            </a:pPr>
            <a:r>
              <a:rPr lang="en-US" sz="1500" dirty="0">
                <a:solidFill>
                  <a:srgbClr val="52606D"/>
                </a:solidFill>
                <a:latin typeface="Arial" pitchFamily="34" charset="0"/>
                <a:ea typeface="Arial" pitchFamily="34" charset="-122"/>
                <a:cs typeface="Arial" pitchFamily="34" charset="-120"/>
              </a:rPr>
              <a:t>The J-integral and the birth of nonlinear fracture mechanics</a:t>
            </a:r>
            <a:endParaRPr lang="en-US" sz="1500" dirty="0"/>
          </a:p>
        </p:txBody>
      </p:sp>
      <p:sp>
        <p:nvSpPr>
          <p:cNvPr id="6" name="Shape 4"/>
          <p:cNvSpPr/>
          <p:nvPr/>
        </p:nvSpPr>
        <p:spPr>
          <a:xfrm>
            <a:off x="5056632" y="1188720"/>
            <a:ext cx="3246120" cy="1645920"/>
          </a:xfrm>
          <a:prstGeom prst="rect">
            <a:avLst/>
          </a:prstGeom>
          <a:solidFill>
            <a:srgbClr val="FFFFFF"/>
          </a:solidFill>
          <a:ln w="15240">
            <a:solidFill>
              <a:srgbClr val="CAD3DF"/>
            </a:solidFill>
            <a:prstDash val="solid"/>
          </a:ln>
        </p:spPr>
        <p:txBody>
          <a:bodyPr/>
          <a:lstStyle/>
          <a:p>
            <a:endParaRPr lang="en-AE"/>
          </a:p>
        </p:txBody>
      </p:sp>
      <p:sp>
        <p:nvSpPr>
          <p:cNvPr id="7" name="Shape 5"/>
          <p:cNvSpPr/>
          <p:nvPr/>
        </p:nvSpPr>
        <p:spPr>
          <a:xfrm>
            <a:off x="5056632" y="2011680"/>
            <a:ext cx="1481328" cy="0"/>
          </a:xfrm>
          <a:prstGeom prst="line">
            <a:avLst/>
          </a:prstGeom>
          <a:noFill/>
          <a:ln w="40640">
            <a:solidFill>
              <a:srgbClr val="1F2933"/>
            </a:solidFill>
            <a:prstDash val="solid"/>
          </a:ln>
        </p:spPr>
        <p:txBody>
          <a:bodyPr/>
          <a:lstStyle/>
          <a:p>
            <a:endParaRPr lang="en-AE"/>
          </a:p>
        </p:txBody>
      </p:sp>
      <p:sp>
        <p:nvSpPr>
          <p:cNvPr id="8" name="Shape 6"/>
          <p:cNvSpPr/>
          <p:nvPr/>
        </p:nvSpPr>
        <p:spPr>
          <a:xfrm>
            <a:off x="6355080" y="1609344"/>
            <a:ext cx="1536192" cy="804672"/>
          </a:xfrm>
          <a:prstGeom prst="ellipse">
            <a:avLst/>
          </a:prstGeom>
          <a:solidFill>
            <a:srgbClr val="FFFFFF">
              <a:alpha val="0"/>
            </a:srgbClr>
          </a:solidFill>
          <a:ln w="27940">
            <a:solidFill>
              <a:srgbClr val="D9972B"/>
            </a:solidFill>
            <a:prstDash val="solid"/>
          </a:ln>
        </p:spPr>
        <p:txBody>
          <a:bodyPr/>
          <a:lstStyle/>
          <a:p>
            <a:endParaRPr lang="en-AE"/>
          </a:p>
        </p:txBody>
      </p:sp>
      <p:sp>
        <p:nvSpPr>
          <p:cNvPr id="9" name="Shape 7"/>
          <p:cNvSpPr/>
          <p:nvPr/>
        </p:nvSpPr>
        <p:spPr>
          <a:xfrm>
            <a:off x="6035040" y="1408176"/>
            <a:ext cx="2194560" cy="1225296"/>
          </a:xfrm>
          <a:prstGeom prst="ellipse">
            <a:avLst/>
          </a:prstGeom>
          <a:solidFill>
            <a:srgbClr val="FFFFFF">
              <a:alpha val="0"/>
            </a:srgbClr>
          </a:solidFill>
          <a:ln w="22860">
            <a:solidFill>
              <a:srgbClr val="1F6B8F"/>
            </a:solidFill>
            <a:prstDash val="solid"/>
          </a:ln>
        </p:spPr>
        <p:txBody>
          <a:bodyPr/>
          <a:lstStyle/>
          <a:p>
            <a:endParaRPr lang="en-AE"/>
          </a:p>
        </p:txBody>
      </p:sp>
      <p:sp>
        <p:nvSpPr>
          <p:cNvPr id="10" name="Shape 8"/>
          <p:cNvSpPr/>
          <p:nvPr/>
        </p:nvSpPr>
        <p:spPr>
          <a:xfrm>
            <a:off x="7406640" y="1152144"/>
            <a:ext cx="1874520" cy="1737360"/>
          </a:xfrm>
          <a:prstGeom prst="ellipse">
            <a:avLst/>
          </a:prstGeom>
          <a:solidFill>
            <a:srgbClr val="FFFFFF">
              <a:alpha val="0"/>
            </a:srgbClr>
          </a:solidFill>
          <a:ln w="19050">
            <a:solidFill>
              <a:srgbClr val="4C9BB5"/>
            </a:solidFill>
            <a:prstDash val="solid"/>
          </a:ln>
        </p:spPr>
        <p:txBody>
          <a:bodyPr/>
          <a:lstStyle/>
          <a:p>
            <a:endParaRPr lang="en-AE"/>
          </a:p>
        </p:txBody>
      </p:sp>
      <p:sp>
        <p:nvSpPr>
          <p:cNvPr id="11" name="Shape 9"/>
          <p:cNvSpPr/>
          <p:nvPr/>
        </p:nvSpPr>
        <p:spPr>
          <a:xfrm>
            <a:off x="5550408" y="731520"/>
            <a:ext cx="228600" cy="384048"/>
          </a:xfrm>
          <a:prstGeom prst="downArrow">
            <a:avLst/>
          </a:prstGeom>
          <a:solidFill>
            <a:srgbClr val="1F6B8F"/>
          </a:solidFill>
          <a:ln w="12700">
            <a:solidFill>
              <a:srgbClr val="1F6B8F"/>
            </a:solidFill>
            <a:prstDash val="solid"/>
          </a:ln>
        </p:spPr>
        <p:txBody>
          <a:bodyPr/>
          <a:lstStyle/>
          <a:p>
            <a:endParaRPr lang="en-AE"/>
          </a:p>
        </p:txBody>
      </p:sp>
      <p:sp>
        <p:nvSpPr>
          <p:cNvPr id="12" name="Shape 10"/>
          <p:cNvSpPr/>
          <p:nvPr/>
        </p:nvSpPr>
        <p:spPr>
          <a:xfrm>
            <a:off x="6556248" y="731520"/>
            <a:ext cx="228600" cy="384048"/>
          </a:xfrm>
          <a:prstGeom prst="downArrow">
            <a:avLst/>
          </a:prstGeom>
          <a:solidFill>
            <a:srgbClr val="1F6B8F"/>
          </a:solidFill>
          <a:ln w="12700">
            <a:solidFill>
              <a:srgbClr val="1F6B8F"/>
            </a:solidFill>
            <a:prstDash val="solid"/>
          </a:ln>
        </p:spPr>
        <p:txBody>
          <a:bodyPr/>
          <a:lstStyle/>
          <a:p>
            <a:endParaRPr lang="en-AE"/>
          </a:p>
        </p:txBody>
      </p:sp>
      <p:sp>
        <p:nvSpPr>
          <p:cNvPr id="13" name="Shape 11"/>
          <p:cNvSpPr/>
          <p:nvPr/>
        </p:nvSpPr>
        <p:spPr>
          <a:xfrm>
            <a:off x="5550408" y="2907792"/>
            <a:ext cx="228600" cy="384048"/>
          </a:xfrm>
          <a:prstGeom prst="upArrow">
            <a:avLst/>
          </a:prstGeom>
          <a:solidFill>
            <a:srgbClr val="1F6B8F"/>
          </a:solidFill>
          <a:ln w="12700">
            <a:solidFill>
              <a:srgbClr val="1F6B8F"/>
            </a:solidFill>
            <a:prstDash val="solid"/>
          </a:ln>
        </p:spPr>
        <p:txBody>
          <a:bodyPr/>
          <a:lstStyle/>
          <a:p>
            <a:endParaRPr lang="en-AE"/>
          </a:p>
        </p:txBody>
      </p:sp>
      <p:sp>
        <p:nvSpPr>
          <p:cNvPr id="14" name="Shape 12"/>
          <p:cNvSpPr/>
          <p:nvPr/>
        </p:nvSpPr>
        <p:spPr>
          <a:xfrm>
            <a:off x="6556248" y="2907792"/>
            <a:ext cx="228600" cy="384048"/>
          </a:xfrm>
          <a:prstGeom prst="upArrow">
            <a:avLst/>
          </a:prstGeom>
          <a:solidFill>
            <a:srgbClr val="1F6B8F"/>
          </a:solidFill>
          <a:ln w="12700">
            <a:solidFill>
              <a:srgbClr val="1F6B8F"/>
            </a:solidFill>
            <a:prstDash val="solid"/>
          </a:ln>
        </p:spPr>
        <p:txBody>
          <a:bodyPr/>
          <a:lstStyle/>
          <a:p>
            <a:endParaRPr lang="en-AE"/>
          </a:p>
        </p:txBody>
      </p:sp>
      <p:sp>
        <p:nvSpPr>
          <p:cNvPr id="15" name="Text 13"/>
          <p:cNvSpPr/>
          <p:nvPr/>
        </p:nvSpPr>
        <p:spPr>
          <a:xfrm>
            <a:off x="7150608" y="1828800"/>
            <a:ext cx="201168" cy="201168"/>
          </a:xfrm>
          <a:prstGeom prst="rect">
            <a:avLst/>
          </a:prstGeom>
          <a:noFill/>
          <a:ln/>
        </p:spPr>
        <p:txBody>
          <a:bodyPr wrap="square" lIns="0" tIns="0" rIns="0" bIns="0" rtlCol="0" anchor="ctr"/>
          <a:lstStyle/>
          <a:p>
            <a:pPr marL="0" indent="0">
              <a:buNone/>
            </a:pPr>
            <a:r>
              <a:rPr lang="en-US" sz="1400" b="1" dirty="0">
                <a:solidFill>
                  <a:srgbClr val="D9972B"/>
                </a:solidFill>
                <a:latin typeface="Arial" pitchFamily="34" charset="0"/>
                <a:ea typeface="Arial" pitchFamily="34" charset="-122"/>
                <a:cs typeface="Arial" pitchFamily="34" charset="-120"/>
              </a:rPr>
              <a:t>J</a:t>
            </a:r>
            <a:endParaRPr lang="en-US" sz="1400" dirty="0"/>
          </a:p>
        </p:txBody>
      </p:sp>
      <p:sp>
        <p:nvSpPr>
          <p:cNvPr id="16" name="Text 14"/>
          <p:cNvSpPr/>
          <p:nvPr/>
        </p:nvSpPr>
        <p:spPr>
          <a:xfrm>
            <a:off x="7744968" y="1682496"/>
            <a:ext cx="804672" cy="201168"/>
          </a:xfrm>
          <a:prstGeom prst="rect">
            <a:avLst/>
          </a:prstGeom>
          <a:noFill/>
          <a:ln/>
        </p:spPr>
        <p:txBody>
          <a:bodyPr wrap="square" lIns="0" tIns="0" rIns="0" bIns="0" rtlCol="0" anchor="ctr"/>
          <a:lstStyle/>
          <a:p>
            <a:pPr marL="0" indent="0">
              <a:buNone/>
            </a:pPr>
            <a:r>
              <a:rPr lang="en-US" sz="1300" b="1" dirty="0">
                <a:solidFill>
                  <a:srgbClr val="1F6B8F"/>
                </a:solidFill>
                <a:latin typeface="Arial" pitchFamily="34" charset="0"/>
                <a:ea typeface="Arial" pitchFamily="34" charset="-122"/>
                <a:cs typeface="Arial" pitchFamily="34" charset="-120"/>
              </a:rPr>
              <a:t>same J</a:t>
            </a:r>
            <a:endParaRPr lang="en-US" sz="1300" dirty="0"/>
          </a:p>
        </p:txBody>
      </p:sp>
      <p:sp>
        <p:nvSpPr>
          <p:cNvPr id="17" name="Text 15"/>
          <p:cNvSpPr/>
          <p:nvPr/>
        </p:nvSpPr>
        <p:spPr>
          <a:xfrm>
            <a:off x="566928" y="2212848"/>
            <a:ext cx="3977640" cy="1207008"/>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Path-independent contour integral</a:t>
            </a:r>
            <a:endParaRPr lang="en-US" sz="1550" dirty="0"/>
          </a:p>
          <a:p>
            <a:r>
              <a:rPr lang="en-US" sz="1550" dirty="0">
                <a:solidFill>
                  <a:srgbClr val="1F2933"/>
                </a:solidFill>
                <a:latin typeface="Arial" pitchFamily="34" charset="0"/>
                <a:ea typeface="Arial" pitchFamily="34" charset="-122"/>
                <a:cs typeface="Arial" pitchFamily="34" charset="-120"/>
              </a:rPr>
              <a:t>Bridge from energy release to crack-tip severity</a:t>
            </a:r>
            <a:endParaRPr lang="en-US" sz="1550" dirty="0"/>
          </a:p>
          <a:p>
            <a:r>
              <a:rPr lang="en-US" sz="1550" dirty="0">
                <a:solidFill>
                  <a:srgbClr val="1F2933"/>
                </a:solidFill>
                <a:latin typeface="Arial" pitchFamily="34" charset="0"/>
                <a:ea typeface="Arial" pitchFamily="34" charset="-122"/>
                <a:cs typeface="Arial" pitchFamily="34" charset="-120"/>
              </a:rPr>
              <a:t>A practical language for elastic-plastic fracture</a:t>
            </a:r>
            <a:endParaRPr lang="en-US" sz="1550" dirty="0"/>
          </a:p>
        </p:txBody>
      </p:sp>
      <p:sp>
        <p:nvSpPr>
          <p:cNvPr id="19" name="Text 16"/>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Why This Paper Matters</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why.png"/>
          <p:cNvPicPr>
            <a:picLocks noChangeAspect="1"/>
          </p:cNvPicPr>
          <p:nvPr/>
        </p:nvPicPr>
        <p:blipFill>
          <a:blip r:embed="rId3"/>
          <a:stretch>
            <a:fillRect/>
          </a:stretch>
        </p:blipFill>
        <p:spPr>
          <a:xfrm>
            <a:off x="4983480" y="1115568"/>
            <a:ext cx="3749040" cy="2112264"/>
          </a:xfrm>
          <a:prstGeom prst="rect">
            <a:avLst/>
          </a:prstGeom>
        </p:spPr>
      </p:pic>
      <p:sp>
        <p:nvSpPr>
          <p:cNvPr id="6" name="Text 3"/>
          <p:cNvSpPr/>
          <p:nvPr/>
        </p:nvSpPr>
        <p:spPr>
          <a:xfrm>
            <a:off x="658368" y="1298448"/>
            <a:ext cx="3749040" cy="164592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Failure begins in a tiny near-tip region</a:t>
            </a:r>
            <a:endParaRPr lang="en-US" sz="1550" dirty="0"/>
          </a:p>
          <a:p>
            <a:r>
              <a:rPr lang="en-US" sz="1550" dirty="0">
                <a:solidFill>
                  <a:srgbClr val="1F2933"/>
                </a:solidFill>
                <a:latin typeface="Arial" pitchFamily="34" charset="0"/>
                <a:ea typeface="Arial" pitchFamily="34" charset="-122"/>
                <a:cs typeface="Arial" pitchFamily="34" charset="-120"/>
              </a:rPr>
              <a:t>Loads and geometry are usually known far away</a:t>
            </a:r>
            <a:endParaRPr lang="en-US" sz="1550" dirty="0"/>
          </a:p>
          <a:p>
            <a:r>
              <a:rPr lang="en-US" sz="1550" dirty="0">
                <a:solidFill>
                  <a:srgbClr val="1F2933"/>
                </a:solidFill>
                <a:latin typeface="Arial" pitchFamily="34" charset="0"/>
                <a:ea typeface="Arial" pitchFamily="34" charset="-122"/>
                <a:cs typeface="Arial" pitchFamily="34" charset="-120"/>
              </a:rPr>
              <a:t>Plasticity makes the local field hard to solve</a:t>
            </a:r>
            <a:endParaRPr lang="en-US" sz="1550" dirty="0"/>
          </a:p>
        </p:txBody>
      </p:sp>
      <p:sp>
        <p:nvSpPr>
          <p:cNvPr id="7" name="Text 4"/>
          <p:cNvSpPr/>
          <p:nvPr/>
        </p:nvSpPr>
        <p:spPr>
          <a:xfrm>
            <a:off x="658368" y="3977640"/>
            <a:ext cx="7498080" cy="292608"/>
          </a:xfrm>
          <a:prstGeom prst="rect">
            <a:avLst/>
          </a:prstGeom>
          <a:noFill/>
          <a:ln/>
        </p:spPr>
        <p:txBody>
          <a:bodyPr wrap="square" lIns="254" tIns="254" rIns="254" bIns="254" rtlCol="0" anchor="ctr"/>
          <a:lstStyle/>
          <a:p>
            <a:pPr marL="0" indent="0">
              <a:buNone/>
            </a:pPr>
            <a:r>
              <a:rPr lang="en-US" sz="1600" b="1" dirty="0">
                <a:solidFill>
                  <a:srgbClr val="1F6B8F"/>
                </a:solidFill>
                <a:latin typeface="Arial" pitchFamily="34" charset="0"/>
                <a:ea typeface="Arial" pitchFamily="34" charset="-122"/>
                <a:cs typeface="Arial" pitchFamily="34" charset="-120"/>
              </a:rPr>
              <a:t>Rice connects the global problem to the local crack-tip danger.</a:t>
            </a:r>
            <a:endParaRPr lang="en-US" sz="1600" dirty="0"/>
          </a:p>
        </p:txBody>
      </p:sp>
      <p:sp>
        <p:nvSpPr>
          <p:cNvPr id="9" name="Text 5"/>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The Problem Before the Paper</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problem.png"/>
          <p:cNvPicPr>
            <a:picLocks noChangeAspect="1"/>
          </p:cNvPicPr>
          <p:nvPr/>
        </p:nvPicPr>
        <p:blipFill>
          <a:blip r:embed="rId3"/>
          <a:stretch>
            <a:fillRect/>
          </a:stretch>
        </p:blipFill>
        <p:spPr>
          <a:xfrm>
            <a:off x="4498848" y="1225296"/>
            <a:ext cx="4160520" cy="2340864"/>
          </a:xfrm>
          <a:prstGeom prst="rect">
            <a:avLst/>
          </a:prstGeom>
        </p:spPr>
      </p:pic>
      <p:sp>
        <p:nvSpPr>
          <p:cNvPr id="6" name="Text 3"/>
          <p:cNvSpPr/>
          <p:nvPr/>
        </p:nvSpPr>
        <p:spPr>
          <a:xfrm>
            <a:off x="658368" y="1225296"/>
            <a:ext cx="3657600" cy="187452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Linear elastic fracture used K and energy release rate</a:t>
            </a:r>
            <a:endParaRPr lang="en-US" sz="1550" dirty="0"/>
          </a:p>
          <a:p>
            <a:r>
              <a:rPr lang="en-US" sz="1550" dirty="0">
                <a:solidFill>
                  <a:srgbClr val="1F2933"/>
                </a:solidFill>
                <a:latin typeface="Arial" pitchFamily="34" charset="0"/>
                <a:ea typeface="Arial" pitchFamily="34" charset="-122"/>
                <a:cs typeface="Arial" pitchFamily="34" charset="-120"/>
              </a:rPr>
              <a:t>Elastic-plastic metals develop concentrated near-tip strain</a:t>
            </a:r>
            <a:endParaRPr lang="en-US" sz="1550" dirty="0"/>
          </a:p>
          <a:p>
            <a:r>
              <a:rPr lang="en-US" sz="1550" dirty="0">
                <a:solidFill>
                  <a:srgbClr val="1F2933"/>
                </a:solidFill>
                <a:latin typeface="Arial" pitchFamily="34" charset="0"/>
                <a:ea typeface="Arial" pitchFamily="34" charset="-122"/>
                <a:cs typeface="Arial" pitchFamily="34" charset="-120"/>
              </a:rPr>
              <a:t>Full nonlinear boundary-value solutions are difficult</a:t>
            </a:r>
            <a:endParaRPr lang="en-US" sz="1550" dirty="0"/>
          </a:p>
        </p:txBody>
      </p:sp>
      <p:sp>
        <p:nvSpPr>
          <p:cNvPr id="7" name="Shape 4"/>
          <p:cNvSpPr/>
          <p:nvPr/>
        </p:nvSpPr>
        <p:spPr>
          <a:xfrm>
            <a:off x="658368" y="3913632"/>
            <a:ext cx="3794760" cy="475488"/>
          </a:xfrm>
          <a:prstGeom prst="rect">
            <a:avLst/>
          </a:prstGeom>
          <a:solidFill>
            <a:srgbClr val="FFF6E6"/>
          </a:solidFill>
          <a:ln w="12700">
            <a:solidFill>
              <a:srgbClr val="F2C879"/>
            </a:solidFill>
            <a:prstDash val="solid"/>
          </a:ln>
        </p:spPr>
        <p:txBody>
          <a:bodyPr/>
          <a:lstStyle/>
          <a:p>
            <a:endParaRPr lang="en-AE"/>
          </a:p>
        </p:txBody>
      </p:sp>
      <p:sp>
        <p:nvSpPr>
          <p:cNvPr id="8" name="Text 5"/>
          <p:cNvSpPr/>
          <p:nvPr/>
        </p:nvSpPr>
        <p:spPr>
          <a:xfrm>
            <a:off x="841248" y="4050792"/>
            <a:ext cx="3429000" cy="164592"/>
          </a:xfrm>
          <a:prstGeom prst="rect">
            <a:avLst/>
          </a:prstGeom>
          <a:noFill/>
          <a:ln/>
        </p:spPr>
        <p:txBody>
          <a:bodyPr wrap="square" lIns="0" tIns="0" rIns="0" bIns="0" rtlCol="0" anchor="ctr"/>
          <a:lstStyle/>
          <a:p>
            <a:pPr marL="0" indent="0">
              <a:buNone/>
            </a:pPr>
            <a:r>
              <a:rPr lang="en-US" sz="1250" b="1" dirty="0">
                <a:solidFill>
                  <a:srgbClr val="1F2933"/>
                </a:solidFill>
                <a:latin typeface="Arial" pitchFamily="34" charset="0"/>
                <a:ea typeface="Arial" pitchFamily="34" charset="-122"/>
                <a:cs typeface="Arial" pitchFamily="34" charset="-120"/>
              </a:rPr>
              <a:t>Can we characterize the tip without solving every local detail?</a:t>
            </a:r>
            <a:endParaRPr lang="en-US" sz="1250" dirty="0"/>
          </a:p>
        </p:txBody>
      </p:sp>
      <p:sp>
        <p:nvSpPr>
          <p:cNvPr id="10" name="Text 6"/>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Rice's Core Move</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core.png"/>
          <p:cNvPicPr>
            <a:picLocks noChangeAspect="1"/>
          </p:cNvPicPr>
          <p:nvPr/>
        </p:nvPicPr>
        <p:blipFill>
          <a:blip r:embed="rId3"/>
          <a:stretch>
            <a:fillRect/>
          </a:stretch>
        </p:blipFill>
        <p:spPr>
          <a:xfrm>
            <a:off x="4407408" y="1078992"/>
            <a:ext cx="4251960" cy="2395728"/>
          </a:xfrm>
          <a:prstGeom prst="rect">
            <a:avLst/>
          </a:prstGeom>
        </p:spPr>
      </p:pic>
      <p:sp>
        <p:nvSpPr>
          <p:cNvPr id="6" name="Text 3"/>
          <p:cNvSpPr/>
          <p:nvPr/>
        </p:nvSpPr>
        <p:spPr>
          <a:xfrm>
            <a:off x="658368" y="1261872"/>
            <a:ext cx="3611880" cy="182880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Draw any valid contour around the tip</a:t>
            </a:r>
            <a:endParaRPr lang="en-US" sz="1550" dirty="0"/>
          </a:p>
          <a:p>
            <a:r>
              <a:rPr lang="en-US" sz="1550" dirty="0">
                <a:solidFill>
                  <a:srgbClr val="1F2933"/>
                </a:solidFill>
                <a:latin typeface="Arial" pitchFamily="34" charset="0"/>
                <a:ea typeface="Arial" pitchFamily="34" charset="-122"/>
                <a:cs typeface="Arial" pitchFamily="34" charset="-120"/>
              </a:rPr>
              <a:t>Integrate stored energy and boundary work</a:t>
            </a:r>
            <a:endParaRPr lang="en-US" sz="1550" dirty="0"/>
          </a:p>
          <a:p>
            <a:r>
              <a:rPr lang="en-US" sz="1550" dirty="0">
                <a:solidFill>
                  <a:srgbClr val="1F2933"/>
                </a:solidFill>
                <a:latin typeface="Arial" pitchFamily="34" charset="0"/>
                <a:ea typeface="Arial" pitchFamily="34" charset="-122"/>
                <a:cs typeface="Arial" pitchFamily="34" charset="-120"/>
              </a:rPr>
              <a:t>The value is the same: J1 = J2 = J3</a:t>
            </a:r>
            <a:endParaRPr lang="en-US" sz="1550" dirty="0"/>
          </a:p>
        </p:txBody>
      </p:sp>
      <p:sp>
        <p:nvSpPr>
          <p:cNvPr id="7" name="Text 4"/>
          <p:cNvSpPr/>
          <p:nvPr/>
        </p:nvSpPr>
        <p:spPr>
          <a:xfrm>
            <a:off x="658368" y="3895344"/>
            <a:ext cx="4023360" cy="256032"/>
          </a:xfrm>
          <a:prstGeom prst="rect">
            <a:avLst/>
          </a:prstGeom>
          <a:noFill/>
          <a:ln/>
        </p:spPr>
        <p:txBody>
          <a:bodyPr wrap="square" lIns="0" tIns="0" rIns="0" bIns="0" rtlCol="0" anchor="ctr"/>
          <a:lstStyle/>
          <a:p>
            <a:pPr marL="0" indent="0">
              <a:buNone/>
            </a:pPr>
            <a:r>
              <a:rPr lang="en-US" sz="1550" b="1" dirty="0">
                <a:solidFill>
                  <a:srgbClr val="1F6B8F"/>
                </a:solidFill>
                <a:latin typeface="Arial" pitchFamily="34" charset="0"/>
                <a:ea typeface="Arial" pitchFamily="34" charset="-122"/>
                <a:cs typeface="Arial" pitchFamily="34" charset="-120"/>
              </a:rPr>
              <a:t>Path independence is the central idea.</a:t>
            </a:r>
            <a:endParaRPr lang="en-US" sz="1550" dirty="0"/>
          </a:p>
        </p:txBody>
      </p:sp>
      <p:sp>
        <p:nvSpPr>
          <p:cNvPr id="9" name="Text 5"/>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How to read J</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Intuitive Example</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analogy.png"/>
          <p:cNvPicPr>
            <a:picLocks noChangeAspect="1"/>
          </p:cNvPicPr>
          <p:nvPr/>
        </p:nvPicPr>
        <p:blipFill>
          <a:blip r:embed="rId3"/>
          <a:stretch>
            <a:fillRect/>
          </a:stretch>
        </p:blipFill>
        <p:spPr>
          <a:xfrm>
            <a:off x="640080" y="1024128"/>
            <a:ext cx="8092440" cy="4553712"/>
          </a:xfrm>
          <a:prstGeom prst="rect">
            <a:avLst/>
          </a:prstGeom>
        </p:spPr>
      </p:pic>
      <p:sp>
        <p:nvSpPr>
          <p:cNvPr id="6" name="Shape 3"/>
          <p:cNvSpPr/>
          <p:nvPr/>
        </p:nvSpPr>
        <p:spPr>
          <a:xfrm>
            <a:off x="3063240" y="4443984"/>
            <a:ext cx="3063240" cy="384048"/>
          </a:xfrm>
          <a:prstGeom prst="rect">
            <a:avLst/>
          </a:prstGeom>
          <a:solidFill>
            <a:srgbClr val="FFFFFF">
              <a:alpha val="96000"/>
            </a:srgbClr>
          </a:solidFill>
          <a:ln w="12700">
            <a:solidFill>
              <a:srgbClr val="CAD3DF"/>
            </a:solidFill>
            <a:prstDash val="solid"/>
          </a:ln>
        </p:spPr>
        <p:txBody>
          <a:bodyPr/>
          <a:lstStyle/>
          <a:p>
            <a:endParaRPr lang="en-AE"/>
          </a:p>
        </p:txBody>
      </p:sp>
      <p:sp>
        <p:nvSpPr>
          <p:cNvPr id="7" name="Text 4"/>
          <p:cNvSpPr/>
          <p:nvPr/>
        </p:nvSpPr>
        <p:spPr>
          <a:xfrm>
            <a:off x="3246120" y="4553712"/>
            <a:ext cx="2697480" cy="164592"/>
          </a:xfrm>
          <a:prstGeom prst="rect">
            <a:avLst/>
          </a:prstGeom>
          <a:noFill/>
          <a:ln/>
        </p:spPr>
        <p:txBody>
          <a:bodyPr wrap="square" lIns="0" tIns="0" rIns="0" bIns="0" rtlCol="0" anchor="ctr"/>
          <a:lstStyle/>
          <a:p>
            <a:pPr marL="0" indent="0" algn="ctr">
              <a:buNone/>
            </a:pPr>
            <a:r>
              <a:rPr lang="en-US" sz="1140" b="1" dirty="0">
                <a:solidFill>
                  <a:srgbClr val="1F2933"/>
                </a:solidFill>
                <a:latin typeface="Arial" pitchFamily="34" charset="0"/>
                <a:ea typeface="Arial" pitchFamily="34" charset="-122"/>
                <a:cs typeface="Arial" pitchFamily="34" charset="-120"/>
              </a:rPr>
              <a:t>Evaluate where convenient. Interpret where failure begins.</a:t>
            </a:r>
            <a:endParaRPr lang="en-US" sz="1140" dirty="0"/>
          </a:p>
        </p:txBody>
      </p:sp>
      <p:sp>
        <p:nvSpPr>
          <p:cNvPr id="9" name="Text 5"/>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The Essential Equation</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equation.png"/>
          <p:cNvPicPr>
            <a:picLocks noChangeAspect="1"/>
          </p:cNvPicPr>
          <p:nvPr/>
        </p:nvPicPr>
        <p:blipFill>
          <a:blip r:embed="rId3"/>
          <a:stretch>
            <a:fillRect/>
          </a:stretch>
        </p:blipFill>
        <p:spPr>
          <a:xfrm>
            <a:off x="4297680" y="1152144"/>
            <a:ext cx="4343400" cy="2441448"/>
          </a:xfrm>
          <a:prstGeom prst="rect">
            <a:avLst/>
          </a:prstGeom>
        </p:spPr>
      </p:pic>
      <p:sp>
        <p:nvSpPr>
          <p:cNvPr id="6" name="Text 3"/>
          <p:cNvSpPr/>
          <p:nvPr/>
        </p:nvSpPr>
        <p:spPr>
          <a:xfrm>
            <a:off x="640080" y="1298448"/>
            <a:ext cx="3749040" cy="384048"/>
          </a:xfrm>
          <a:prstGeom prst="rect">
            <a:avLst/>
          </a:prstGeom>
          <a:noFill/>
          <a:ln/>
        </p:spPr>
        <p:txBody>
          <a:bodyPr wrap="square" lIns="254" tIns="254" rIns="254" bIns="254" rtlCol="0" anchor="ctr">
            <a:normAutofit/>
          </a:bodyPr>
          <a:lstStyle/>
          <a:p>
            <a:pPr marL="0" indent="0">
              <a:buNone/>
            </a:pPr>
            <a:r>
              <a:rPr lang="en-US" sz="1700" b="1" dirty="0">
                <a:solidFill>
                  <a:srgbClr val="1F2933"/>
                </a:solidFill>
                <a:latin typeface="Courier New" pitchFamily="34" charset="0"/>
                <a:ea typeface="Courier New" pitchFamily="34" charset="-122"/>
                <a:cs typeface="Courier New" pitchFamily="34" charset="-120"/>
              </a:rPr>
              <a:t>J = ∫Γ ( W dy - T · ∂u/∂x ds )</a:t>
            </a:r>
            <a:endParaRPr lang="en-US" sz="1700" dirty="0"/>
          </a:p>
        </p:txBody>
      </p:sp>
      <p:sp>
        <p:nvSpPr>
          <p:cNvPr id="7" name="Text 4"/>
          <p:cNvSpPr/>
          <p:nvPr/>
        </p:nvSpPr>
        <p:spPr>
          <a:xfrm>
            <a:off x="713232" y="1993392"/>
            <a:ext cx="3657600" cy="173736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W: strain energy density</a:t>
            </a:r>
            <a:endParaRPr lang="en-US" sz="1550" dirty="0"/>
          </a:p>
          <a:p>
            <a:r>
              <a:rPr lang="en-US" sz="1550" dirty="0">
                <a:solidFill>
                  <a:srgbClr val="1F2933"/>
                </a:solidFill>
                <a:latin typeface="Arial" pitchFamily="34" charset="0"/>
                <a:ea typeface="Arial" pitchFamily="34" charset="-122"/>
                <a:cs typeface="Arial" pitchFamily="34" charset="-120"/>
              </a:rPr>
              <a:t>T: traction on the contour</a:t>
            </a:r>
            <a:endParaRPr lang="en-US" sz="1550" dirty="0"/>
          </a:p>
          <a:p>
            <a:r>
              <a:rPr lang="en-US" sz="1550" dirty="0">
                <a:solidFill>
                  <a:srgbClr val="1F2933"/>
                </a:solidFill>
                <a:latin typeface="Arial" pitchFamily="34" charset="0"/>
                <a:ea typeface="Arial" pitchFamily="34" charset="-122"/>
                <a:cs typeface="Arial" pitchFamily="34" charset="-120"/>
              </a:rPr>
              <a:t>u: displacement field</a:t>
            </a:r>
            <a:endParaRPr lang="en-US" sz="1550" dirty="0"/>
          </a:p>
          <a:p>
            <a:r>
              <a:rPr lang="en-US" sz="1550" dirty="0">
                <a:solidFill>
                  <a:srgbClr val="1F2933"/>
                </a:solidFill>
                <a:latin typeface="Arial" pitchFamily="34" charset="0"/>
                <a:ea typeface="Arial" pitchFamily="34" charset="-122"/>
                <a:cs typeface="Arial" pitchFamily="34" charset="-120"/>
              </a:rPr>
              <a:t>x: crack-extension direction</a:t>
            </a:r>
            <a:endParaRPr lang="en-US" sz="1550" dirty="0"/>
          </a:p>
        </p:txBody>
      </p:sp>
      <p:sp>
        <p:nvSpPr>
          <p:cNvPr id="9" name="Text 5"/>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What J Connects</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connects.png"/>
          <p:cNvPicPr>
            <a:picLocks noChangeAspect="1"/>
          </p:cNvPicPr>
          <p:nvPr/>
        </p:nvPicPr>
        <p:blipFill>
          <a:blip r:embed="rId3"/>
          <a:stretch>
            <a:fillRect/>
          </a:stretch>
        </p:blipFill>
        <p:spPr>
          <a:xfrm>
            <a:off x="4645152" y="1024128"/>
            <a:ext cx="3886200" cy="2185416"/>
          </a:xfrm>
          <a:prstGeom prst="rect">
            <a:avLst/>
          </a:prstGeom>
        </p:spPr>
      </p:pic>
      <p:sp>
        <p:nvSpPr>
          <p:cNvPr id="6" name="Text 3"/>
          <p:cNvSpPr/>
          <p:nvPr/>
        </p:nvSpPr>
        <p:spPr>
          <a:xfrm>
            <a:off x="658368" y="1225296"/>
            <a:ext cx="3886200" cy="196596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Energy rate: J = -dP/da</a:t>
            </a:r>
            <a:endParaRPr lang="en-US" sz="1550" dirty="0"/>
          </a:p>
          <a:p>
            <a:r>
              <a:rPr lang="en-US" sz="1550" dirty="0">
                <a:solidFill>
                  <a:srgbClr val="1F2933"/>
                </a:solidFill>
                <a:latin typeface="Arial" pitchFamily="34" charset="0"/>
                <a:ea typeface="Arial" pitchFamily="34" charset="-122"/>
                <a:cs typeface="Arial" pitchFamily="34" charset="-120"/>
              </a:rPr>
              <a:t>Small-scale yielding: J = (1 - ν²)K²/E</a:t>
            </a:r>
            <a:endParaRPr lang="en-US" sz="1550" dirty="0"/>
          </a:p>
          <a:p>
            <a:r>
              <a:rPr lang="en-US" sz="1550" dirty="0">
                <a:solidFill>
                  <a:srgbClr val="1F2933"/>
                </a:solidFill>
                <a:latin typeface="Arial" pitchFamily="34" charset="0"/>
                <a:ea typeface="Arial" pitchFamily="34" charset="-122"/>
                <a:cs typeface="Arial" pitchFamily="34" charset="-120"/>
              </a:rPr>
              <a:t>Near-tip severity: averaged local deformation measure</a:t>
            </a:r>
            <a:endParaRPr lang="en-US" sz="1550" dirty="0"/>
          </a:p>
        </p:txBody>
      </p:sp>
      <p:sp>
        <p:nvSpPr>
          <p:cNvPr id="7" name="Text 4"/>
          <p:cNvSpPr/>
          <p:nvPr/>
        </p:nvSpPr>
        <p:spPr>
          <a:xfrm>
            <a:off x="658368" y="3950208"/>
            <a:ext cx="7498080" cy="256032"/>
          </a:xfrm>
          <a:prstGeom prst="rect">
            <a:avLst/>
          </a:prstGeom>
          <a:noFill/>
          <a:ln/>
        </p:spPr>
        <p:txBody>
          <a:bodyPr wrap="square" lIns="0" tIns="0" rIns="0" bIns="0" rtlCol="0" anchor="ctr"/>
          <a:lstStyle/>
          <a:p>
            <a:pPr marL="0" indent="0">
              <a:buNone/>
            </a:pPr>
            <a:r>
              <a:rPr lang="en-US" sz="1500" b="1" dirty="0">
                <a:solidFill>
                  <a:srgbClr val="1F6B8F"/>
                </a:solidFill>
                <a:latin typeface="Arial" pitchFamily="34" charset="0"/>
                <a:ea typeface="Arial" pitchFamily="34" charset="-122"/>
                <a:cs typeface="Arial" pitchFamily="34" charset="-120"/>
              </a:rPr>
              <a:t>Rice generalized classical fracture mechanics rather than replacing it.</a:t>
            </a:r>
            <a:endParaRPr lang="en-US" sz="1500" dirty="0"/>
          </a:p>
        </p:txBody>
      </p:sp>
      <p:sp>
        <p:nvSpPr>
          <p:cNvPr id="9" name="Text 5"/>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7/9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What Changed, and What It Does Not Solve</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timeline.png"/>
          <p:cNvPicPr>
            <a:picLocks noChangeAspect="1"/>
          </p:cNvPicPr>
          <p:nvPr/>
        </p:nvPicPr>
        <p:blipFill>
          <a:blip r:embed="rId3"/>
          <a:stretch>
            <a:fillRect/>
          </a:stretch>
        </p:blipFill>
        <p:spPr>
          <a:xfrm>
            <a:off x="658368" y="969264"/>
            <a:ext cx="8046720" cy="4526280"/>
          </a:xfrm>
          <a:prstGeom prst="rect">
            <a:avLst/>
          </a:prstGeom>
        </p:spPr>
      </p:pic>
      <p:sp>
        <p:nvSpPr>
          <p:cNvPr id="6" name="Shape 3"/>
          <p:cNvSpPr/>
          <p:nvPr/>
        </p:nvSpPr>
        <p:spPr>
          <a:xfrm>
            <a:off x="768096" y="4133088"/>
            <a:ext cx="7424928" cy="420624"/>
          </a:xfrm>
          <a:prstGeom prst="rect">
            <a:avLst/>
          </a:prstGeom>
          <a:solidFill>
            <a:srgbClr val="F8FAFC"/>
          </a:solidFill>
          <a:ln w="12700">
            <a:solidFill>
              <a:srgbClr val="CAD3DF"/>
            </a:solidFill>
            <a:prstDash val="solid"/>
          </a:ln>
        </p:spPr>
        <p:txBody>
          <a:bodyPr/>
          <a:lstStyle/>
          <a:p>
            <a:endParaRPr lang="en-AE"/>
          </a:p>
        </p:txBody>
      </p:sp>
      <p:sp>
        <p:nvSpPr>
          <p:cNvPr id="7" name="Text 4"/>
          <p:cNvSpPr/>
          <p:nvPr/>
        </p:nvSpPr>
        <p:spPr>
          <a:xfrm>
            <a:off x="950976" y="4270248"/>
            <a:ext cx="7059168" cy="146304"/>
          </a:xfrm>
          <a:prstGeom prst="rect">
            <a:avLst/>
          </a:prstGeom>
          <a:noFill/>
          <a:ln/>
        </p:spPr>
        <p:txBody>
          <a:bodyPr wrap="square" lIns="0" tIns="0" rIns="0" bIns="0" rtlCol="0" anchor="ctr"/>
          <a:lstStyle/>
          <a:p>
            <a:pPr marL="0" indent="0">
              <a:buNone/>
            </a:pPr>
            <a:r>
              <a:rPr lang="en-US" sz="1070" dirty="0">
                <a:solidFill>
                  <a:srgbClr val="1F2933"/>
                </a:solidFill>
                <a:latin typeface="Arial" pitchFamily="34" charset="0"/>
                <a:ea typeface="Arial" pitchFamily="34" charset="-122"/>
                <a:cs typeface="Arial" pitchFamily="34" charset="-120"/>
              </a:rPr>
              <a:t>Assumptions: 2D fields, no body forces, traction-free crack faces, deformation-theory material behavior.</a:t>
            </a:r>
            <a:endParaRPr lang="en-US" sz="1070" dirty="0"/>
          </a:p>
        </p:txBody>
      </p:sp>
      <p:sp>
        <p:nvSpPr>
          <p:cNvPr id="9" name="Text 5"/>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8/9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38912" y="237744"/>
            <a:ext cx="2194560" cy="201168"/>
          </a:xfrm>
          <a:prstGeom prst="rect">
            <a:avLst/>
          </a:prstGeom>
          <a:noFill/>
          <a:ln/>
        </p:spPr>
        <p:txBody>
          <a:bodyPr wrap="square" lIns="0" tIns="0" rIns="0" bIns="0" rtlCol="0" anchor="ctr"/>
          <a:lstStyle/>
          <a:p>
            <a:pPr marL="0" indent="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092440" cy="402336"/>
          </a:xfrm>
          <a:prstGeom prst="rect">
            <a:avLst/>
          </a:prstGeom>
          <a:noFill/>
          <a:ln/>
        </p:spPr>
        <p:txBody>
          <a:bodyPr wrap="square" lIns="254" tIns="254" rIns="254" bIns="254" rtlCol="0" anchor="ctr"/>
          <a:lstStyle/>
          <a:p>
            <a:pPr marL="0" indent="0">
              <a:buNone/>
            </a:pPr>
            <a:r>
              <a:rPr lang="en-US" sz="2200" b="1" dirty="0">
                <a:solidFill>
                  <a:srgbClr val="1F2933"/>
                </a:solidFill>
                <a:latin typeface="Arial" pitchFamily="34" charset="0"/>
                <a:ea typeface="Arial" pitchFamily="34" charset="-122"/>
                <a:cs typeface="Arial" pitchFamily="34" charset="-120"/>
              </a:rPr>
              <a:t>Final Takeaway</a:t>
            </a:r>
            <a:endParaRPr lang="en-US" sz="2200" dirty="0"/>
          </a:p>
        </p:txBody>
      </p:sp>
      <p:sp>
        <p:nvSpPr>
          <p:cNvPr id="4" name="Shape 2"/>
          <p:cNvSpPr/>
          <p:nvPr/>
        </p:nvSpPr>
        <p:spPr>
          <a:xfrm>
            <a:off x="438912" y="896112"/>
            <a:ext cx="7680960" cy="0"/>
          </a:xfrm>
          <a:prstGeom prst="line">
            <a:avLst/>
          </a:prstGeom>
          <a:noFill/>
          <a:ln w="15240">
            <a:solidFill>
              <a:srgbClr val="CAD3DF"/>
            </a:solidFill>
            <a:prstDash val="solid"/>
          </a:ln>
        </p:spPr>
        <p:txBody>
          <a:bodyPr/>
          <a:lstStyle/>
          <a:p>
            <a:endParaRPr lang="en-AE"/>
          </a:p>
        </p:txBody>
      </p:sp>
      <p:pic>
        <p:nvPicPr>
          <p:cNvPr id="5" name="Image 0" descr=".tmp\ppt_assets\final.png"/>
          <p:cNvPicPr>
            <a:picLocks noChangeAspect="1"/>
          </p:cNvPicPr>
          <p:nvPr/>
        </p:nvPicPr>
        <p:blipFill>
          <a:blip r:embed="rId3"/>
          <a:stretch>
            <a:fillRect/>
          </a:stretch>
        </p:blipFill>
        <p:spPr>
          <a:xfrm>
            <a:off x="4617720" y="896112"/>
            <a:ext cx="4069080" cy="2286000"/>
          </a:xfrm>
          <a:prstGeom prst="rect">
            <a:avLst/>
          </a:prstGeom>
        </p:spPr>
      </p:pic>
      <p:sp>
        <p:nvSpPr>
          <p:cNvPr id="6" name="Text 3"/>
          <p:cNvSpPr/>
          <p:nvPr/>
        </p:nvSpPr>
        <p:spPr>
          <a:xfrm>
            <a:off x="658368" y="1325880"/>
            <a:ext cx="3703320" cy="169164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A hard local crack problem becomes a contour-energy measure</a:t>
            </a:r>
            <a:endParaRPr lang="en-US" sz="1550" dirty="0"/>
          </a:p>
          <a:p>
            <a:r>
              <a:rPr lang="en-US" sz="1550" dirty="0">
                <a:solidFill>
                  <a:srgbClr val="1F2933"/>
                </a:solidFill>
                <a:latin typeface="Arial" pitchFamily="34" charset="0"/>
                <a:ea typeface="Arial" pitchFamily="34" charset="-122"/>
                <a:cs typeface="Arial" pitchFamily="34" charset="-120"/>
              </a:rPr>
              <a:t>Evaluate J where it is convenient</a:t>
            </a:r>
            <a:endParaRPr lang="en-US" sz="1550" dirty="0"/>
          </a:p>
          <a:p>
            <a:r>
              <a:rPr lang="en-US" sz="1550" dirty="0">
                <a:solidFill>
                  <a:srgbClr val="1F2933"/>
                </a:solidFill>
                <a:latin typeface="Arial" pitchFamily="34" charset="0"/>
                <a:ea typeface="Arial" pitchFamily="34" charset="-122"/>
                <a:cs typeface="Arial" pitchFamily="34" charset="-120"/>
              </a:rPr>
              <a:t>Interpret J where failure begins</a:t>
            </a:r>
            <a:endParaRPr lang="en-US" sz="1550" dirty="0"/>
          </a:p>
        </p:txBody>
      </p:sp>
      <p:sp>
        <p:nvSpPr>
          <p:cNvPr id="7" name="Shape 4"/>
          <p:cNvSpPr/>
          <p:nvPr/>
        </p:nvSpPr>
        <p:spPr>
          <a:xfrm>
            <a:off x="658368" y="3767328"/>
            <a:ext cx="4480560" cy="475488"/>
          </a:xfrm>
          <a:prstGeom prst="rect">
            <a:avLst/>
          </a:prstGeom>
          <a:solidFill>
            <a:srgbClr val="1F2933"/>
          </a:solidFill>
          <a:ln w="12700">
            <a:solidFill>
              <a:srgbClr val="1F2933"/>
            </a:solidFill>
            <a:prstDash val="solid"/>
          </a:ln>
        </p:spPr>
        <p:txBody>
          <a:bodyPr/>
          <a:lstStyle/>
          <a:p>
            <a:endParaRPr lang="en-AE"/>
          </a:p>
        </p:txBody>
      </p:sp>
      <p:sp>
        <p:nvSpPr>
          <p:cNvPr id="8" name="Text 5"/>
          <p:cNvSpPr/>
          <p:nvPr/>
        </p:nvSpPr>
        <p:spPr>
          <a:xfrm>
            <a:off x="896112" y="3913632"/>
            <a:ext cx="3931920" cy="18288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That quantity is J.</a:t>
            </a:r>
            <a:endParaRPr lang="en-US" sz="1500" dirty="0"/>
          </a:p>
        </p:txBody>
      </p:sp>
      <p:sp>
        <p:nvSpPr>
          <p:cNvPr id="10" name="Text 6"/>
          <p:cNvSpPr/>
          <p:nvPr/>
        </p:nvSpPr>
        <p:spPr>
          <a:xfrm>
            <a:off x="8229600" y="4882896"/>
            <a:ext cx="457200" cy="146304"/>
          </a:xfrm>
          <a:prstGeom prst="rect">
            <a:avLst/>
          </a:prstGeom>
          <a:noFill/>
          <a:ln/>
        </p:spPr>
        <p:txBody>
          <a:bodyPr wrap="square" lIns="0" tIns="0" rIns="0" bIns="0" rtlCol="0" anchor="ctr"/>
          <a:lstStyle/>
          <a:p>
            <a:pPr marL="0" indent="0" algn="r">
              <a:buNone/>
            </a:pPr>
            <a:r>
              <a:rPr lang="en-US" sz="800" dirty="0">
                <a:solidFill>
                  <a:srgbClr val="52606D"/>
                </a:solidFill>
                <a:latin typeface="Arial" pitchFamily="34" charset="0"/>
                <a:ea typeface="Arial" pitchFamily="34" charset="-122"/>
                <a:cs typeface="Arial" pitchFamily="34" charset="-120"/>
              </a:rPr>
              <a:t>9/9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1164</Words>
  <Application>Microsoft Office PowerPoint</Application>
  <PresentationFormat>Widescreen</PresentationFormat>
  <Paragraphs>78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C:\AI_Codex\mechanical-portfolio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Path-Independent Integral: Rice's J-Integral</dc:title>
  <dc:subject>Rice 1968 J-integral presentation</dc:subject>
  <dc:creator>Codex</dc:creator>
  <cp:lastModifiedBy>Mubarak Ahmad Alhamadi</cp:lastModifiedBy>
  <cp:revision>1</cp:revision>
  <dcterms:created xsi:type="dcterms:W3CDTF">2026-06-08T15:24:10Z</dcterms:created>
  <dcterms:modified xsi:type="dcterms:W3CDTF">2026-06-08T15:27:46Z</dcterms:modified>
</cp:coreProperties>
</file>