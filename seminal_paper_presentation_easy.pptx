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a simple engineering picture. Imagine a loaded metal component with a small crack. The crack may look small compared with the full part, but the important location is the crack tip. That is where the smooth load in the structure becomes highly concentrated deformation. This presentation is about Rice's 1968 paper, which introduced the J-integral. The main idea is that we can measure the danger of the crack tip using a contour around it, instead of trying to know every microscopic detail at the tip from the beginning.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Far away from the crack, the loading can look simple. Maybe the part is pulled in tension, bent by a moment, or pressurized. Near the crack tip, the situation changes. Stress and strain concentrate in a small region. In metals, this region may even yield plastically while the rest of the component still looks mostly elastic. That is why fracture mechanics focuses so much on the crack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get to Rice's idea, here is the difficulty. As engineers, we often know the far-field information: the load, the approximate geometry, and the material. What we really need is the crack-tip severity. But calculating the exact local stress and strain field near a crack can be very difficult, especially when plasticity occurs. Rice's paper asks whether we can characterize the crack tip without solving the full local field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Rice's answer is to draw a contour around the crack tip. The contour can be close to the tip, or farther away. It can be a small loop or a larger loop. The key result is that a particular integral around that contour has the same value for every valid path. That value is called J. In this picture, J one, J two, and J three are all the same. This is the heart of Rice's 1968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plain language, J measures the energy available to drive the crack forward. It is important that J is not just the stress at the crack tip. For a sharp crack, the stress at the mathematical tip can become singular, so asking for one stress value exactly at the tip is not the best engineering question. J asks a more useful question: how much mechanical driving force is available around this crack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only equation I want to show. J is a contour integral of W dy minus T dot du by dx times ds. W is the stored strain energy density. T is the traction acting on the contour. u is displacement, and x is the crack-extension direction. The powerful part is not only the formula. The powerful part is that, under Rice's assumptions, the answer does not depend on which contour we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simple illustrative case study. Imagine a steel bracket with a bolt hole. A small crack is found near the hole, where stress concentration is already expected. First, identify the crack size and loading. Second, calculate J around the crack tip. Then compare the applied J with the material's crack resistance, often written as Jc. The important point is that J turns the crack problem into a comparison between demand and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consider a welded pipe or pressure vessel wall. Welded regions often have geometric changes, residual stresses, and material changes. If a crack forms near the weld, the crack tip may experience local yielding before the whole wall is close to collapse. This is the kind of situation where a purely linear elastic view may be too limited. The J-integral can represent the crack-driving force in a nonlinear response, within the assumptions of the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Historically, fracture mechanics already had major ideas from Griffith and Irwin. Those ideas worked very well for linear elastic fracture mechanics. Rice's 1968 paper gave the field a way to move into nonlinear crack behavior. The J-integral connected energy release, crack-tip deformation, and elastic-plastic fracture characterization. Later work by Hutchinson, Rice, and Rosengren showed how J controls crack-tip fields in hardening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takeaway is simple. A crack tip is hard to analyze directly, especially when plasticity appears. Rice's J-integral gives us a contour-based energy measure of crack danger. We draw a contour around the crack tip, calculate one crack-driving quantity, and compare it with the material's resistance. Rice's idea turns crack-tip danger into something measurable, comparable, and useful for engineering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Non-specialist starting point</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Start With a Crack</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Text 3"/>
          <p:cNvSpPr/>
          <p:nvPr/>
        </p:nvSpPr>
        <p:spPr>
          <a:xfrm>
            <a:off x="658368" y="1298448"/>
            <a:ext cx="3291840" cy="1417320"/>
          </a:xfrm>
          <a:prstGeom prst="rect">
            <a:avLst/>
          </a:prstGeom>
          <a:noFill/>
          <a:ln/>
        </p:spPr>
        <p:txBody>
          <a:bodyPr wrap="square" lIns="254" tIns="254" rIns="254" bIns="254" rtlCol="0" anchor="t">
            <a:normAutofit/>
          </a:bodyPr>
          <a:lstStyle/>
          <a:p>
            <a:r>
              <a:rPr lang="en-US" sz="1600" dirty="0">
                <a:solidFill>
                  <a:srgbClr val="1F2933"/>
                </a:solidFill>
                <a:latin typeface="Arial" pitchFamily="34" charset="0"/>
                <a:ea typeface="Arial" pitchFamily="34" charset="-122"/>
                <a:cs typeface="Arial" pitchFamily="34" charset="-120"/>
              </a:rPr>
              <a:t>A component is loaded</a:t>
            </a:r>
            <a:endParaRPr lang="en-US" sz="1600" dirty="0"/>
          </a:p>
          <a:p>
            <a:r>
              <a:rPr lang="en-US" sz="1600" dirty="0">
                <a:solidFill>
                  <a:srgbClr val="1F2933"/>
                </a:solidFill>
                <a:latin typeface="Arial" pitchFamily="34" charset="0"/>
                <a:ea typeface="Arial" pitchFamily="34" charset="-122"/>
                <a:cs typeface="Arial" pitchFamily="34" charset="-120"/>
              </a:rPr>
              <a:t>A small crack exists</a:t>
            </a:r>
            <a:endParaRPr lang="en-US" sz="1600" dirty="0"/>
          </a:p>
          <a:p>
            <a:r>
              <a:rPr lang="en-US" sz="1600" dirty="0">
                <a:solidFill>
                  <a:srgbClr val="1F2933"/>
                </a:solidFill>
                <a:latin typeface="Arial" pitchFamily="34" charset="0"/>
                <a:ea typeface="Arial" pitchFamily="34" charset="-122"/>
                <a:cs typeface="Arial" pitchFamily="34" charset="-120"/>
              </a:rPr>
              <a:t>Failure starts at the crack tip</a:t>
            </a:r>
            <a:endParaRPr lang="en-US" sz="1600" dirty="0"/>
          </a:p>
        </p:txBody>
      </p:sp>
      <p:sp>
        <p:nvSpPr>
          <p:cNvPr id="6" name="Shape 4"/>
          <p:cNvSpPr/>
          <p:nvPr/>
        </p:nvSpPr>
        <p:spPr>
          <a:xfrm>
            <a:off x="4754880" y="1417320"/>
            <a:ext cx="3566160" cy="1691640"/>
          </a:xfrm>
          <a:prstGeom prst="rect">
            <a:avLst/>
          </a:prstGeom>
          <a:solidFill>
            <a:srgbClr val="FFFFFF"/>
          </a:solidFill>
          <a:ln w="13970">
            <a:solidFill>
              <a:srgbClr val="CAD3DF"/>
            </a:solidFill>
            <a:prstDash val="solid"/>
          </a:ln>
        </p:spPr>
      </p:sp>
      <p:sp>
        <p:nvSpPr>
          <p:cNvPr id="7" name="Shape 5"/>
          <p:cNvSpPr/>
          <p:nvPr/>
        </p:nvSpPr>
        <p:spPr>
          <a:xfrm>
            <a:off x="5010912" y="2258568"/>
            <a:ext cx="1572768" cy="0"/>
          </a:xfrm>
          <a:prstGeom prst="line">
            <a:avLst/>
          </a:prstGeom>
          <a:noFill/>
          <a:ln w="41910">
            <a:solidFill>
              <a:srgbClr val="1F2933"/>
            </a:solidFill>
            <a:prstDash val="solid"/>
          </a:ln>
        </p:spPr>
      </p:sp>
      <p:sp>
        <p:nvSpPr>
          <p:cNvPr id="8" name="Shape 6"/>
          <p:cNvSpPr/>
          <p:nvPr/>
        </p:nvSpPr>
        <p:spPr>
          <a:xfrm>
            <a:off x="6455664" y="2167128"/>
            <a:ext cx="201168" cy="201168"/>
          </a:xfrm>
          <a:prstGeom prst="ellipse">
            <a:avLst/>
          </a:prstGeom>
          <a:solidFill>
            <a:srgbClr val="1F2933"/>
          </a:solidFill>
          <a:ln w="12700">
            <a:solidFill>
              <a:srgbClr val="1F2933"/>
            </a:solidFill>
            <a:prstDash val="solid"/>
          </a:ln>
        </p:spPr>
      </p:sp>
      <p:sp>
        <p:nvSpPr>
          <p:cNvPr id="9" name="Shape 7"/>
          <p:cNvSpPr/>
          <p:nvPr/>
        </p:nvSpPr>
        <p:spPr>
          <a:xfrm>
            <a:off x="6217920" y="1984248"/>
            <a:ext cx="685800" cy="530352"/>
          </a:xfrm>
          <a:prstGeom prst="ellipse">
            <a:avLst/>
          </a:prstGeom>
          <a:solidFill>
            <a:srgbClr val="B84A3A">
              <a:alpha val="35000"/>
            </a:srgbClr>
          </a:solidFill>
          <a:ln w="16510">
            <a:solidFill>
              <a:srgbClr val="B84A3A"/>
            </a:solidFill>
            <a:prstDash val="solid"/>
          </a:ln>
        </p:spPr>
      </p:sp>
      <p:sp>
        <p:nvSpPr>
          <p:cNvPr id="10" name="Shape 8"/>
          <p:cNvSpPr/>
          <p:nvPr/>
        </p:nvSpPr>
        <p:spPr>
          <a:xfrm>
            <a:off x="5468112" y="1005840"/>
            <a:ext cx="164592" cy="292608"/>
          </a:xfrm>
          <a:prstGeom prst="downArrow">
            <a:avLst/>
          </a:prstGeom>
          <a:solidFill>
            <a:srgbClr val="1F6B8F"/>
          </a:solidFill>
          <a:ln w="12700">
            <a:solidFill>
              <a:srgbClr val="1F6B8F"/>
            </a:solidFill>
            <a:prstDash val="solid"/>
          </a:ln>
        </p:spPr>
      </p:sp>
      <p:sp>
        <p:nvSpPr>
          <p:cNvPr id="11" name="Shape 9"/>
          <p:cNvSpPr/>
          <p:nvPr/>
        </p:nvSpPr>
        <p:spPr>
          <a:xfrm>
            <a:off x="5468112" y="3227832"/>
            <a:ext cx="164592" cy="292608"/>
          </a:xfrm>
          <a:prstGeom prst="upArrow">
            <a:avLst/>
          </a:prstGeom>
          <a:solidFill>
            <a:srgbClr val="1F6B8F"/>
          </a:solidFill>
          <a:ln w="12700">
            <a:solidFill>
              <a:srgbClr val="1F6B8F"/>
            </a:solidFill>
            <a:prstDash val="solid"/>
          </a:ln>
        </p:spPr>
      </p:sp>
      <p:sp>
        <p:nvSpPr>
          <p:cNvPr id="12" name="Shape 10"/>
          <p:cNvSpPr/>
          <p:nvPr/>
        </p:nvSpPr>
        <p:spPr>
          <a:xfrm>
            <a:off x="6400800" y="1005840"/>
            <a:ext cx="164592" cy="292608"/>
          </a:xfrm>
          <a:prstGeom prst="downArrow">
            <a:avLst/>
          </a:prstGeom>
          <a:solidFill>
            <a:srgbClr val="1F6B8F"/>
          </a:solidFill>
          <a:ln w="12700">
            <a:solidFill>
              <a:srgbClr val="1F6B8F"/>
            </a:solidFill>
            <a:prstDash val="solid"/>
          </a:ln>
        </p:spPr>
      </p:sp>
      <p:sp>
        <p:nvSpPr>
          <p:cNvPr id="13" name="Shape 11"/>
          <p:cNvSpPr/>
          <p:nvPr/>
        </p:nvSpPr>
        <p:spPr>
          <a:xfrm>
            <a:off x="6400800" y="3227832"/>
            <a:ext cx="164592" cy="292608"/>
          </a:xfrm>
          <a:prstGeom prst="upArrow">
            <a:avLst/>
          </a:prstGeom>
          <a:solidFill>
            <a:srgbClr val="1F6B8F"/>
          </a:solidFill>
          <a:ln w="12700">
            <a:solidFill>
              <a:srgbClr val="1F6B8F"/>
            </a:solidFill>
            <a:prstDash val="solid"/>
          </a:ln>
        </p:spPr>
      </p:sp>
      <p:sp>
        <p:nvSpPr>
          <p:cNvPr id="14" name="Shape 12"/>
          <p:cNvSpPr/>
          <p:nvPr/>
        </p:nvSpPr>
        <p:spPr>
          <a:xfrm>
            <a:off x="7333488" y="1005840"/>
            <a:ext cx="164592" cy="292608"/>
          </a:xfrm>
          <a:prstGeom prst="downArrow">
            <a:avLst/>
          </a:prstGeom>
          <a:solidFill>
            <a:srgbClr val="1F6B8F"/>
          </a:solidFill>
          <a:ln w="12700">
            <a:solidFill>
              <a:srgbClr val="1F6B8F"/>
            </a:solidFill>
            <a:prstDash val="solid"/>
          </a:ln>
        </p:spPr>
      </p:sp>
      <p:sp>
        <p:nvSpPr>
          <p:cNvPr id="15" name="Shape 13"/>
          <p:cNvSpPr/>
          <p:nvPr/>
        </p:nvSpPr>
        <p:spPr>
          <a:xfrm>
            <a:off x="7333488" y="3227832"/>
            <a:ext cx="164592" cy="292608"/>
          </a:xfrm>
          <a:prstGeom prst="upArrow">
            <a:avLst/>
          </a:prstGeom>
          <a:solidFill>
            <a:srgbClr val="1F6B8F"/>
          </a:solidFill>
          <a:ln w="12700">
            <a:solidFill>
              <a:srgbClr val="1F6B8F"/>
            </a:solidFill>
            <a:prstDash val="solid"/>
          </a:ln>
        </p:spPr>
      </p:sp>
      <p:sp>
        <p:nvSpPr>
          <p:cNvPr id="16" name="Shape 14"/>
          <p:cNvSpPr/>
          <p:nvPr/>
        </p:nvSpPr>
        <p:spPr>
          <a:xfrm>
            <a:off x="6419088" y="1901952"/>
            <a:ext cx="1078992" cy="749808"/>
          </a:xfrm>
          <a:prstGeom prst="ellipse">
            <a:avLst/>
          </a:prstGeom>
          <a:solidFill>
            <a:srgbClr val="FFFFFF"/>
          </a:solidFill>
          <a:ln w="19050">
            <a:solidFill>
              <a:srgbClr val="1F6B8F"/>
            </a:solidFill>
            <a:prstDash val="solid"/>
          </a:ln>
        </p:spPr>
      </p:sp>
      <p:sp>
        <p:nvSpPr>
          <p:cNvPr id="17" name="Shape 15"/>
          <p:cNvSpPr/>
          <p:nvPr/>
        </p:nvSpPr>
        <p:spPr>
          <a:xfrm>
            <a:off x="6583680" y="2286000"/>
            <a:ext cx="566928" cy="0"/>
          </a:xfrm>
          <a:prstGeom prst="line">
            <a:avLst/>
          </a:prstGeom>
          <a:noFill/>
          <a:ln w="25400">
            <a:solidFill>
              <a:srgbClr val="1F2933"/>
            </a:solidFill>
            <a:prstDash val="solid"/>
          </a:ln>
        </p:spPr>
      </p:sp>
      <p:sp>
        <p:nvSpPr>
          <p:cNvPr id="18" name="Shape 16"/>
          <p:cNvSpPr/>
          <p:nvPr/>
        </p:nvSpPr>
        <p:spPr>
          <a:xfrm>
            <a:off x="7104888" y="2221992"/>
            <a:ext cx="182880" cy="128016"/>
          </a:xfrm>
          <a:prstGeom prst="ellipse">
            <a:avLst/>
          </a:prstGeom>
          <a:solidFill>
            <a:srgbClr val="B84A3A">
              <a:alpha val="55000"/>
            </a:srgbClr>
          </a:solidFill>
          <a:ln w="12700">
            <a:solidFill>
              <a:srgbClr val="B84A3A"/>
            </a:solidFill>
            <a:prstDash val="solid"/>
          </a:ln>
        </p:spPr>
      </p:sp>
      <p:sp>
        <p:nvSpPr>
          <p:cNvPr id="19" name="Text 17"/>
          <p:cNvSpPr/>
          <p:nvPr/>
        </p:nvSpPr>
        <p:spPr>
          <a:xfrm>
            <a:off x="6400800" y="2788920"/>
            <a:ext cx="1188720" cy="164592"/>
          </a:xfrm>
          <a:prstGeom prst="rect">
            <a:avLst/>
          </a:prstGeom>
          <a:noFill/>
          <a:ln/>
        </p:spPr>
        <p:txBody>
          <a:bodyPr wrap="square" lIns="0" tIns="0" rIns="0" bIns="0" rtlCol="0" anchor="ctr"/>
          <a:lstStyle/>
          <a:p>
            <a:pPr algn="ctr" indent="0" marL="0">
              <a:buNone/>
            </a:pPr>
            <a:r>
              <a:rPr lang="en-US" sz="1100" b="1" dirty="0">
                <a:solidFill>
                  <a:srgbClr val="1F6B8F"/>
                </a:solidFill>
                <a:latin typeface="Arial" pitchFamily="34" charset="0"/>
                <a:ea typeface="Arial" pitchFamily="34" charset="-122"/>
                <a:cs typeface="Arial" pitchFamily="34" charset="-120"/>
              </a:rPr>
              <a:t>zoom: crack tip</a:t>
            </a:r>
            <a:endParaRPr lang="en-US" sz="1100" dirty="0"/>
          </a:p>
        </p:txBody>
      </p:sp>
      <p:sp>
        <p:nvSpPr>
          <p:cNvPr id="21" name="Text 18"/>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1/10</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Why the Tip Is the Problem</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Text 3"/>
          <p:cNvSpPr/>
          <p:nvPr/>
        </p:nvSpPr>
        <p:spPr>
          <a:xfrm>
            <a:off x="658368" y="1243584"/>
            <a:ext cx="3520440" cy="164592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Far away: loading looks simple</a:t>
            </a:r>
            <a:endParaRPr lang="en-US" sz="1550" dirty="0"/>
          </a:p>
          <a:p>
            <a:r>
              <a:rPr lang="en-US" sz="1550" dirty="0">
                <a:solidFill>
                  <a:srgbClr val="1F2933"/>
                </a:solidFill>
                <a:latin typeface="Arial" pitchFamily="34" charset="0"/>
                <a:ea typeface="Arial" pitchFamily="34" charset="-122"/>
                <a:cs typeface="Arial" pitchFamily="34" charset="-120"/>
              </a:rPr>
              <a:t>Near the tip: deformation concentrates</a:t>
            </a:r>
            <a:endParaRPr lang="en-US" sz="1550" dirty="0"/>
          </a:p>
          <a:p>
            <a:r>
              <a:rPr lang="en-US" sz="1550" dirty="0">
                <a:solidFill>
                  <a:srgbClr val="1F2933"/>
                </a:solidFill>
                <a:latin typeface="Arial" pitchFamily="34" charset="0"/>
                <a:ea typeface="Arial" pitchFamily="34" charset="-122"/>
                <a:cs typeface="Arial" pitchFamily="34" charset="-120"/>
              </a:rPr>
              <a:t>Local yielding may begin first</a:t>
            </a:r>
            <a:endParaRPr lang="en-US" sz="1550" dirty="0"/>
          </a:p>
        </p:txBody>
      </p:sp>
      <p:sp>
        <p:nvSpPr>
          <p:cNvPr id="6" name="Shape 4"/>
          <p:cNvSpPr/>
          <p:nvPr/>
        </p:nvSpPr>
        <p:spPr>
          <a:xfrm>
            <a:off x="4645152" y="1298448"/>
            <a:ext cx="3673145" cy="1742389"/>
          </a:xfrm>
          <a:prstGeom prst="rect">
            <a:avLst/>
          </a:prstGeom>
          <a:solidFill>
            <a:srgbClr val="FFFFFF"/>
          </a:solidFill>
          <a:ln w="13970">
            <a:solidFill>
              <a:srgbClr val="CAD3DF"/>
            </a:solidFill>
            <a:prstDash val="solid"/>
          </a:ln>
        </p:spPr>
      </p:sp>
      <p:sp>
        <p:nvSpPr>
          <p:cNvPr id="7" name="Shape 5"/>
          <p:cNvSpPr/>
          <p:nvPr/>
        </p:nvSpPr>
        <p:spPr>
          <a:xfrm>
            <a:off x="4908865" y="2164933"/>
            <a:ext cx="1619951" cy="0"/>
          </a:xfrm>
          <a:prstGeom prst="line">
            <a:avLst/>
          </a:prstGeom>
          <a:noFill/>
          <a:ln w="41910">
            <a:solidFill>
              <a:srgbClr val="1F2933"/>
            </a:solidFill>
            <a:prstDash val="solid"/>
          </a:ln>
        </p:spPr>
      </p:sp>
      <p:sp>
        <p:nvSpPr>
          <p:cNvPr id="8" name="Shape 6"/>
          <p:cNvSpPr/>
          <p:nvPr/>
        </p:nvSpPr>
        <p:spPr>
          <a:xfrm>
            <a:off x="6396960" y="2070750"/>
            <a:ext cx="207203" cy="207203"/>
          </a:xfrm>
          <a:prstGeom prst="ellipse">
            <a:avLst/>
          </a:prstGeom>
          <a:solidFill>
            <a:srgbClr val="1F2933"/>
          </a:solidFill>
          <a:ln w="12700">
            <a:solidFill>
              <a:srgbClr val="1F2933"/>
            </a:solidFill>
            <a:prstDash val="solid"/>
          </a:ln>
        </p:spPr>
      </p:sp>
      <p:sp>
        <p:nvSpPr>
          <p:cNvPr id="9" name="Shape 7"/>
          <p:cNvSpPr/>
          <p:nvPr/>
        </p:nvSpPr>
        <p:spPr>
          <a:xfrm>
            <a:off x="6152083" y="1882384"/>
            <a:ext cx="706374" cy="546263"/>
          </a:xfrm>
          <a:prstGeom prst="ellipse">
            <a:avLst/>
          </a:prstGeom>
          <a:solidFill>
            <a:srgbClr val="D9972B">
              <a:alpha val="35000"/>
            </a:srgbClr>
          </a:solidFill>
          <a:ln w="16510">
            <a:solidFill>
              <a:srgbClr val="D9972B"/>
            </a:solidFill>
            <a:prstDash val="solid"/>
          </a:ln>
        </p:spPr>
      </p:sp>
      <p:sp>
        <p:nvSpPr>
          <p:cNvPr id="10" name="Shape 8"/>
          <p:cNvSpPr/>
          <p:nvPr/>
        </p:nvSpPr>
        <p:spPr>
          <a:xfrm>
            <a:off x="5379781" y="874624"/>
            <a:ext cx="169530" cy="301386"/>
          </a:xfrm>
          <a:prstGeom prst="downArrow">
            <a:avLst/>
          </a:prstGeom>
          <a:solidFill>
            <a:srgbClr val="1F6B8F"/>
          </a:solidFill>
          <a:ln w="12700">
            <a:solidFill>
              <a:srgbClr val="1F6B8F"/>
            </a:solidFill>
            <a:prstDash val="solid"/>
          </a:ln>
        </p:spPr>
      </p:sp>
      <p:sp>
        <p:nvSpPr>
          <p:cNvPr id="11" name="Shape 9"/>
          <p:cNvSpPr/>
          <p:nvPr/>
        </p:nvSpPr>
        <p:spPr>
          <a:xfrm>
            <a:off x="5379781" y="3163275"/>
            <a:ext cx="169530" cy="301386"/>
          </a:xfrm>
          <a:prstGeom prst="upArrow">
            <a:avLst/>
          </a:prstGeom>
          <a:solidFill>
            <a:srgbClr val="1F6B8F"/>
          </a:solidFill>
          <a:ln w="12700">
            <a:solidFill>
              <a:srgbClr val="1F6B8F"/>
            </a:solidFill>
            <a:prstDash val="solid"/>
          </a:ln>
        </p:spPr>
      </p:sp>
      <p:sp>
        <p:nvSpPr>
          <p:cNvPr id="12" name="Shape 10"/>
          <p:cNvSpPr/>
          <p:nvPr/>
        </p:nvSpPr>
        <p:spPr>
          <a:xfrm>
            <a:off x="6340450" y="874624"/>
            <a:ext cx="169530" cy="301386"/>
          </a:xfrm>
          <a:prstGeom prst="downArrow">
            <a:avLst/>
          </a:prstGeom>
          <a:solidFill>
            <a:srgbClr val="1F6B8F"/>
          </a:solidFill>
          <a:ln w="12700">
            <a:solidFill>
              <a:srgbClr val="1F6B8F"/>
            </a:solidFill>
            <a:prstDash val="solid"/>
          </a:ln>
        </p:spPr>
      </p:sp>
      <p:sp>
        <p:nvSpPr>
          <p:cNvPr id="13" name="Shape 11"/>
          <p:cNvSpPr/>
          <p:nvPr/>
        </p:nvSpPr>
        <p:spPr>
          <a:xfrm>
            <a:off x="6340450" y="3163275"/>
            <a:ext cx="169530" cy="301386"/>
          </a:xfrm>
          <a:prstGeom prst="upArrow">
            <a:avLst/>
          </a:prstGeom>
          <a:solidFill>
            <a:srgbClr val="1F6B8F"/>
          </a:solidFill>
          <a:ln w="12700">
            <a:solidFill>
              <a:srgbClr val="1F6B8F"/>
            </a:solidFill>
            <a:prstDash val="solid"/>
          </a:ln>
        </p:spPr>
      </p:sp>
      <p:sp>
        <p:nvSpPr>
          <p:cNvPr id="14" name="Shape 12"/>
          <p:cNvSpPr/>
          <p:nvPr/>
        </p:nvSpPr>
        <p:spPr>
          <a:xfrm>
            <a:off x="7301118" y="874624"/>
            <a:ext cx="169530" cy="301386"/>
          </a:xfrm>
          <a:prstGeom prst="downArrow">
            <a:avLst/>
          </a:prstGeom>
          <a:solidFill>
            <a:srgbClr val="1F6B8F"/>
          </a:solidFill>
          <a:ln w="12700">
            <a:solidFill>
              <a:srgbClr val="1F6B8F"/>
            </a:solidFill>
            <a:prstDash val="solid"/>
          </a:ln>
        </p:spPr>
      </p:sp>
      <p:sp>
        <p:nvSpPr>
          <p:cNvPr id="15" name="Shape 13"/>
          <p:cNvSpPr/>
          <p:nvPr/>
        </p:nvSpPr>
        <p:spPr>
          <a:xfrm>
            <a:off x="7301118" y="3163275"/>
            <a:ext cx="169530" cy="301386"/>
          </a:xfrm>
          <a:prstGeom prst="upArrow">
            <a:avLst/>
          </a:prstGeom>
          <a:solidFill>
            <a:srgbClr val="1F6B8F"/>
          </a:solidFill>
          <a:ln w="12700">
            <a:solidFill>
              <a:srgbClr val="1F6B8F"/>
            </a:solidFill>
            <a:prstDash val="solid"/>
          </a:ln>
        </p:spPr>
      </p:sp>
      <p:sp>
        <p:nvSpPr>
          <p:cNvPr id="16" name="Shape 14"/>
          <p:cNvSpPr/>
          <p:nvPr/>
        </p:nvSpPr>
        <p:spPr>
          <a:xfrm>
            <a:off x="6053328" y="1920240"/>
            <a:ext cx="868680" cy="566928"/>
          </a:xfrm>
          <a:prstGeom prst="ellipse">
            <a:avLst/>
          </a:prstGeom>
          <a:solidFill>
            <a:srgbClr val="B84A3A">
              <a:alpha val="30000"/>
            </a:srgbClr>
          </a:solidFill>
          <a:ln w="17780">
            <a:solidFill>
              <a:srgbClr val="B84A3A"/>
            </a:solidFill>
            <a:prstDash val="solid"/>
          </a:ln>
        </p:spPr>
      </p:sp>
      <p:sp>
        <p:nvSpPr>
          <p:cNvPr id="17" name="Text 15"/>
          <p:cNvSpPr/>
          <p:nvPr/>
        </p:nvSpPr>
        <p:spPr>
          <a:xfrm>
            <a:off x="5897880" y="3044952"/>
            <a:ext cx="1325880" cy="164592"/>
          </a:xfrm>
          <a:prstGeom prst="rect">
            <a:avLst/>
          </a:prstGeom>
          <a:noFill/>
          <a:ln/>
        </p:spPr>
        <p:txBody>
          <a:bodyPr wrap="square" lIns="0" tIns="0" rIns="0" bIns="0" rtlCol="0" anchor="ctr"/>
          <a:lstStyle/>
          <a:p>
            <a:pPr algn="ctr" indent="0" marL="0">
              <a:buNone/>
            </a:pPr>
            <a:r>
              <a:rPr lang="en-US" sz="1150" b="1" dirty="0">
                <a:solidFill>
                  <a:srgbClr val="B84A3A"/>
                </a:solidFill>
                <a:latin typeface="Arial" pitchFamily="34" charset="0"/>
                <a:ea typeface="Arial" pitchFamily="34" charset="-122"/>
                <a:cs typeface="Arial" pitchFamily="34" charset="-120"/>
              </a:rPr>
              <a:t>high strain zone</a:t>
            </a:r>
            <a:endParaRPr lang="en-US" sz="1150" dirty="0"/>
          </a:p>
        </p:txBody>
      </p:sp>
      <p:sp>
        <p:nvSpPr>
          <p:cNvPr id="18" name="Shape 16"/>
          <p:cNvSpPr/>
          <p:nvPr/>
        </p:nvSpPr>
        <p:spPr>
          <a:xfrm>
            <a:off x="6263640" y="2852928"/>
            <a:ext cx="182880" cy="-384048"/>
          </a:xfrm>
          <a:prstGeom prst="line">
            <a:avLst/>
          </a:prstGeom>
          <a:noFill/>
          <a:ln w="15240">
            <a:solidFill>
              <a:srgbClr val="B84A3A"/>
            </a:solidFill>
            <a:prstDash val="solid"/>
          </a:ln>
        </p:spPr>
      </p:sp>
      <p:sp>
        <p:nvSpPr>
          <p:cNvPr id="20" name="Text 17"/>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2/10</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The Old Difficulty</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Shape 3"/>
          <p:cNvSpPr/>
          <p:nvPr/>
        </p:nvSpPr>
        <p:spPr>
          <a:xfrm>
            <a:off x="786384" y="1828800"/>
            <a:ext cx="1965960" cy="1051560"/>
          </a:xfrm>
          <a:prstGeom prst="rect">
            <a:avLst/>
          </a:prstGeom>
          <a:solidFill>
            <a:srgbClr val="FFFFFF"/>
          </a:solidFill>
          <a:ln w="19050">
            <a:solidFill>
              <a:srgbClr val="1F6B8F"/>
            </a:solidFill>
            <a:prstDash val="solid"/>
          </a:ln>
        </p:spPr>
      </p:sp>
      <p:sp>
        <p:nvSpPr>
          <p:cNvPr id="6" name="Text 4"/>
          <p:cNvSpPr/>
          <p:nvPr/>
        </p:nvSpPr>
        <p:spPr>
          <a:xfrm>
            <a:off x="896112" y="2084832"/>
            <a:ext cx="1737360" cy="164592"/>
          </a:xfrm>
          <a:prstGeom prst="rect">
            <a:avLst/>
          </a:prstGeom>
          <a:noFill/>
          <a:ln/>
        </p:spPr>
        <p:txBody>
          <a:bodyPr wrap="square" lIns="0" tIns="0" rIns="0" bIns="0" rtlCol="0" anchor="ctr"/>
          <a:lstStyle/>
          <a:p>
            <a:pPr algn="ctr" indent="0" marL="0">
              <a:buNone/>
            </a:pPr>
            <a:r>
              <a:rPr lang="en-US" sz="1700" b="1" dirty="0">
                <a:solidFill>
                  <a:srgbClr val="1F6B8F"/>
                </a:solidFill>
                <a:latin typeface="Arial" pitchFamily="34" charset="0"/>
                <a:ea typeface="Arial" pitchFamily="34" charset="-122"/>
                <a:cs typeface="Arial" pitchFamily="34" charset="-120"/>
              </a:rPr>
              <a:t>Known</a:t>
            </a:r>
            <a:endParaRPr lang="en-US" sz="1700" dirty="0"/>
          </a:p>
        </p:txBody>
      </p:sp>
      <p:sp>
        <p:nvSpPr>
          <p:cNvPr id="7" name="Text 5"/>
          <p:cNvSpPr/>
          <p:nvPr/>
        </p:nvSpPr>
        <p:spPr>
          <a:xfrm>
            <a:off x="896112" y="2450592"/>
            <a:ext cx="1737360" cy="164592"/>
          </a:xfrm>
          <a:prstGeom prst="rect">
            <a:avLst/>
          </a:prstGeom>
          <a:noFill/>
          <a:ln/>
        </p:spPr>
        <p:txBody>
          <a:bodyPr wrap="square" lIns="0" tIns="0" rIns="0" bIns="0" rtlCol="0" anchor="ctr"/>
          <a:lstStyle/>
          <a:p>
            <a:pPr algn="ctr" indent="0" marL="0">
              <a:buNone/>
            </a:pPr>
            <a:r>
              <a:rPr lang="en-US" sz="1150" dirty="0">
                <a:solidFill>
                  <a:srgbClr val="52606D"/>
                </a:solidFill>
                <a:latin typeface="Arial" pitchFamily="34" charset="0"/>
                <a:ea typeface="Arial" pitchFamily="34" charset="-122"/>
                <a:cs typeface="Arial" pitchFamily="34" charset="-120"/>
              </a:rPr>
              <a:t>load + geometry</a:t>
            </a:r>
            <a:endParaRPr lang="en-US" sz="1150" dirty="0"/>
          </a:p>
        </p:txBody>
      </p:sp>
      <p:sp>
        <p:nvSpPr>
          <p:cNvPr id="8" name="Shape 6"/>
          <p:cNvSpPr/>
          <p:nvPr/>
        </p:nvSpPr>
        <p:spPr>
          <a:xfrm>
            <a:off x="2926080" y="2148840"/>
            <a:ext cx="320040" cy="347472"/>
          </a:xfrm>
          <a:prstGeom prst="rightArrow">
            <a:avLst/>
          </a:prstGeom>
          <a:solidFill>
            <a:srgbClr val="D9972B"/>
          </a:solidFill>
          <a:ln w="12700">
            <a:solidFill>
              <a:srgbClr val="D9972B"/>
            </a:solidFill>
            <a:prstDash val="solid"/>
          </a:ln>
        </p:spPr>
      </p:sp>
      <p:sp>
        <p:nvSpPr>
          <p:cNvPr id="9" name="Shape 7"/>
          <p:cNvSpPr/>
          <p:nvPr/>
        </p:nvSpPr>
        <p:spPr>
          <a:xfrm>
            <a:off x="3529584" y="1828800"/>
            <a:ext cx="1965960" cy="1051560"/>
          </a:xfrm>
          <a:prstGeom prst="rect">
            <a:avLst/>
          </a:prstGeom>
          <a:solidFill>
            <a:srgbClr val="FFFFFF"/>
          </a:solidFill>
          <a:ln w="19050">
            <a:solidFill>
              <a:srgbClr val="B84A3A"/>
            </a:solidFill>
            <a:prstDash val="solid"/>
          </a:ln>
        </p:spPr>
      </p:sp>
      <p:sp>
        <p:nvSpPr>
          <p:cNvPr id="10" name="Text 8"/>
          <p:cNvSpPr/>
          <p:nvPr/>
        </p:nvSpPr>
        <p:spPr>
          <a:xfrm>
            <a:off x="3639312" y="2084832"/>
            <a:ext cx="1737360" cy="164592"/>
          </a:xfrm>
          <a:prstGeom prst="rect">
            <a:avLst/>
          </a:prstGeom>
          <a:noFill/>
          <a:ln/>
        </p:spPr>
        <p:txBody>
          <a:bodyPr wrap="square" lIns="0" tIns="0" rIns="0" bIns="0" rtlCol="0" anchor="ctr"/>
          <a:lstStyle/>
          <a:p>
            <a:pPr algn="ctr" indent="0" marL="0">
              <a:buNone/>
            </a:pPr>
            <a:r>
              <a:rPr lang="en-US" sz="1700" b="1" dirty="0">
                <a:solidFill>
                  <a:srgbClr val="B84A3A"/>
                </a:solidFill>
                <a:latin typeface="Arial" pitchFamily="34" charset="0"/>
                <a:ea typeface="Arial" pitchFamily="34" charset="-122"/>
                <a:cs typeface="Arial" pitchFamily="34" charset="-120"/>
              </a:rPr>
              <a:t>Hard</a:t>
            </a:r>
            <a:endParaRPr lang="en-US" sz="1700" dirty="0"/>
          </a:p>
        </p:txBody>
      </p:sp>
      <p:sp>
        <p:nvSpPr>
          <p:cNvPr id="11" name="Text 9"/>
          <p:cNvSpPr/>
          <p:nvPr/>
        </p:nvSpPr>
        <p:spPr>
          <a:xfrm>
            <a:off x="3639312" y="2450592"/>
            <a:ext cx="1737360" cy="164592"/>
          </a:xfrm>
          <a:prstGeom prst="rect">
            <a:avLst/>
          </a:prstGeom>
          <a:noFill/>
          <a:ln/>
        </p:spPr>
        <p:txBody>
          <a:bodyPr wrap="square" lIns="0" tIns="0" rIns="0" bIns="0" rtlCol="0" anchor="ctr"/>
          <a:lstStyle/>
          <a:p>
            <a:pPr algn="ctr" indent="0" marL="0">
              <a:buNone/>
            </a:pPr>
            <a:r>
              <a:rPr lang="en-US" sz="1150" dirty="0">
                <a:solidFill>
                  <a:srgbClr val="52606D"/>
                </a:solidFill>
                <a:latin typeface="Arial" pitchFamily="34" charset="0"/>
                <a:ea typeface="Arial" pitchFamily="34" charset="-122"/>
                <a:cs typeface="Arial" pitchFamily="34" charset="-120"/>
              </a:rPr>
              <a:t>local crack-tip field</a:t>
            </a:r>
            <a:endParaRPr lang="en-US" sz="1150" dirty="0"/>
          </a:p>
        </p:txBody>
      </p:sp>
      <p:sp>
        <p:nvSpPr>
          <p:cNvPr id="12" name="Shape 10"/>
          <p:cNvSpPr/>
          <p:nvPr/>
        </p:nvSpPr>
        <p:spPr>
          <a:xfrm>
            <a:off x="5669280" y="2148840"/>
            <a:ext cx="320040" cy="347472"/>
          </a:xfrm>
          <a:prstGeom prst="rightArrow">
            <a:avLst/>
          </a:prstGeom>
          <a:solidFill>
            <a:srgbClr val="D9972B"/>
          </a:solidFill>
          <a:ln w="12700">
            <a:solidFill>
              <a:srgbClr val="D9972B"/>
            </a:solidFill>
            <a:prstDash val="solid"/>
          </a:ln>
        </p:spPr>
      </p:sp>
      <p:sp>
        <p:nvSpPr>
          <p:cNvPr id="13" name="Shape 11"/>
          <p:cNvSpPr/>
          <p:nvPr/>
        </p:nvSpPr>
        <p:spPr>
          <a:xfrm>
            <a:off x="6272784" y="1828800"/>
            <a:ext cx="1965960" cy="1051560"/>
          </a:xfrm>
          <a:prstGeom prst="rect">
            <a:avLst/>
          </a:prstGeom>
          <a:solidFill>
            <a:srgbClr val="FFFFFF"/>
          </a:solidFill>
          <a:ln w="19050">
            <a:solidFill>
              <a:srgbClr val="5F8D4E"/>
            </a:solidFill>
            <a:prstDash val="solid"/>
          </a:ln>
        </p:spPr>
      </p:sp>
      <p:sp>
        <p:nvSpPr>
          <p:cNvPr id="14" name="Text 12"/>
          <p:cNvSpPr/>
          <p:nvPr/>
        </p:nvSpPr>
        <p:spPr>
          <a:xfrm>
            <a:off x="6382512" y="2084832"/>
            <a:ext cx="1737360" cy="164592"/>
          </a:xfrm>
          <a:prstGeom prst="rect">
            <a:avLst/>
          </a:prstGeom>
          <a:noFill/>
          <a:ln/>
        </p:spPr>
        <p:txBody>
          <a:bodyPr wrap="square" lIns="0" tIns="0" rIns="0" bIns="0" rtlCol="0" anchor="ctr"/>
          <a:lstStyle/>
          <a:p>
            <a:pPr algn="ctr" indent="0" marL="0">
              <a:buNone/>
            </a:pPr>
            <a:r>
              <a:rPr lang="en-US" sz="1700" b="1" dirty="0">
                <a:solidFill>
                  <a:srgbClr val="5F8D4E"/>
                </a:solidFill>
                <a:latin typeface="Arial" pitchFamily="34" charset="0"/>
                <a:ea typeface="Arial" pitchFamily="34" charset="-122"/>
                <a:cs typeface="Arial" pitchFamily="34" charset="-120"/>
              </a:rPr>
              <a:t>Needed</a:t>
            </a:r>
            <a:endParaRPr lang="en-US" sz="1700" dirty="0"/>
          </a:p>
        </p:txBody>
      </p:sp>
      <p:sp>
        <p:nvSpPr>
          <p:cNvPr id="15" name="Text 13"/>
          <p:cNvSpPr/>
          <p:nvPr/>
        </p:nvSpPr>
        <p:spPr>
          <a:xfrm>
            <a:off x="6382512" y="2450592"/>
            <a:ext cx="1737360" cy="164592"/>
          </a:xfrm>
          <a:prstGeom prst="rect">
            <a:avLst/>
          </a:prstGeom>
          <a:noFill/>
          <a:ln/>
        </p:spPr>
        <p:txBody>
          <a:bodyPr wrap="square" lIns="0" tIns="0" rIns="0" bIns="0" rtlCol="0" anchor="ctr"/>
          <a:lstStyle/>
          <a:p>
            <a:pPr algn="ctr" indent="0" marL="0">
              <a:buNone/>
            </a:pPr>
            <a:r>
              <a:rPr lang="en-US" sz="1150" dirty="0">
                <a:solidFill>
                  <a:srgbClr val="52606D"/>
                </a:solidFill>
                <a:latin typeface="Arial" pitchFamily="34" charset="0"/>
                <a:ea typeface="Arial" pitchFamily="34" charset="-122"/>
                <a:cs typeface="Arial" pitchFamily="34" charset="-120"/>
              </a:rPr>
              <a:t>safety decision</a:t>
            </a:r>
            <a:endParaRPr lang="en-US" sz="1150" dirty="0"/>
          </a:p>
        </p:txBody>
      </p:sp>
      <p:sp>
        <p:nvSpPr>
          <p:cNvPr id="16" name="Text 14"/>
          <p:cNvSpPr/>
          <p:nvPr/>
        </p:nvSpPr>
        <p:spPr>
          <a:xfrm>
            <a:off x="1325880" y="3913632"/>
            <a:ext cx="6492240" cy="292608"/>
          </a:xfrm>
          <a:prstGeom prst="rect">
            <a:avLst/>
          </a:prstGeom>
          <a:noFill/>
          <a:ln/>
        </p:spPr>
        <p:txBody>
          <a:bodyPr wrap="square" lIns="0" tIns="0" rIns="0" bIns="0" rtlCol="0" anchor="ctr"/>
          <a:lstStyle/>
          <a:p>
            <a:pPr algn="ctr" indent="0" marL="0">
              <a:buNone/>
            </a:pPr>
            <a:r>
              <a:rPr lang="en-US" sz="1600" b="1" dirty="0">
                <a:solidFill>
                  <a:srgbClr val="1F2933"/>
                </a:solidFill>
                <a:latin typeface="Arial" pitchFamily="34" charset="0"/>
                <a:ea typeface="Arial" pitchFamily="34" charset="-122"/>
                <a:cs typeface="Arial" pitchFamily="34" charset="-120"/>
              </a:rPr>
              <a:t>Rice's question: can we avoid solving every local detail?</a:t>
            </a:r>
            <a:endParaRPr lang="en-US" sz="1600" dirty="0"/>
          </a:p>
        </p:txBody>
      </p:sp>
      <p:sp>
        <p:nvSpPr>
          <p:cNvPr id="18" name="Text 15"/>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3/10</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Rice's Simple Picture</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Text 3"/>
          <p:cNvSpPr/>
          <p:nvPr/>
        </p:nvSpPr>
        <p:spPr>
          <a:xfrm>
            <a:off x="658368" y="1243584"/>
            <a:ext cx="3429000" cy="150876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Draw a contour around the tip</a:t>
            </a:r>
            <a:endParaRPr lang="en-US" sz="1550" dirty="0"/>
          </a:p>
          <a:p>
            <a:r>
              <a:rPr lang="en-US" sz="1550" dirty="0">
                <a:solidFill>
                  <a:srgbClr val="1F2933"/>
                </a:solidFill>
                <a:latin typeface="Arial" pitchFamily="34" charset="0"/>
                <a:ea typeface="Arial" pitchFamily="34" charset="-122"/>
                <a:cs typeface="Arial" pitchFamily="34" charset="-120"/>
              </a:rPr>
              <a:t>Calculate J</a:t>
            </a:r>
            <a:endParaRPr lang="en-US" sz="1550" dirty="0"/>
          </a:p>
          <a:p>
            <a:r>
              <a:rPr lang="en-US" sz="1550" dirty="0">
                <a:solidFill>
                  <a:srgbClr val="1F2933"/>
                </a:solidFill>
                <a:latin typeface="Arial" pitchFamily="34" charset="0"/>
                <a:ea typeface="Arial" pitchFamily="34" charset="-122"/>
                <a:cs typeface="Arial" pitchFamily="34" charset="-120"/>
              </a:rPr>
              <a:t>Every valid path gives the same value</a:t>
            </a:r>
            <a:endParaRPr lang="en-US" sz="1550" dirty="0"/>
          </a:p>
        </p:txBody>
      </p:sp>
      <p:sp>
        <p:nvSpPr>
          <p:cNvPr id="6" name="Shape 4"/>
          <p:cNvSpPr/>
          <p:nvPr/>
        </p:nvSpPr>
        <p:spPr>
          <a:xfrm>
            <a:off x="4572000" y="1234440"/>
            <a:ext cx="3744468" cy="1776222"/>
          </a:xfrm>
          <a:prstGeom prst="rect">
            <a:avLst/>
          </a:prstGeom>
          <a:solidFill>
            <a:srgbClr val="FFFFFF"/>
          </a:solidFill>
          <a:ln w="13970">
            <a:solidFill>
              <a:srgbClr val="CAD3DF"/>
            </a:solidFill>
            <a:prstDash val="solid"/>
          </a:ln>
        </p:spPr>
      </p:sp>
      <p:sp>
        <p:nvSpPr>
          <p:cNvPr id="7" name="Shape 5"/>
          <p:cNvSpPr/>
          <p:nvPr/>
        </p:nvSpPr>
        <p:spPr>
          <a:xfrm>
            <a:off x="4840834" y="2117750"/>
            <a:ext cx="1651406" cy="0"/>
          </a:xfrm>
          <a:prstGeom prst="line">
            <a:avLst/>
          </a:prstGeom>
          <a:noFill/>
          <a:ln w="41910">
            <a:solidFill>
              <a:srgbClr val="1F2933"/>
            </a:solidFill>
            <a:prstDash val="solid"/>
          </a:ln>
        </p:spPr>
      </p:sp>
      <p:sp>
        <p:nvSpPr>
          <p:cNvPr id="8" name="Shape 6"/>
          <p:cNvSpPr/>
          <p:nvPr/>
        </p:nvSpPr>
        <p:spPr>
          <a:xfrm>
            <a:off x="6357823" y="2021738"/>
            <a:ext cx="211226" cy="211226"/>
          </a:xfrm>
          <a:prstGeom prst="ellipse">
            <a:avLst/>
          </a:prstGeom>
          <a:solidFill>
            <a:srgbClr val="1F2933"/>
          </a:solidFill>
          <a:ln w="12700">
            <a:solidFill>
              <a:srgbClr val="1F2933"/>
            </a:solidFill>
            <a:prstDash val="solid"/>
          </a:ln>
        </p:spPr>
      </p:sp>
      <p:sp>
        <p:nvSpPr>
          <p:cNvPr id="9" name="Shape 7"/>
          <p:cNvSpPr/>
          <p:nvPr/>
        </p:nvSpPr>
        <p:spPr>
          <a:xfrm>
            <a:off x="6050585" y="1762506"/>
            <a:ext cx="864108" cy="672084"/>
          </a:xfrm>
          <a:prstGeom prst="ellipse">
            <a:avLst/>
          </a:prstGeom>
          <a:solidFill>
            <a:srgbClr val="FFFFFF">
              <a:alpha val="0"/>
            </a:srgbClr>
          </a:solidFill>
          <a:ln w="22860">
            <a:solidFill>
              <a:srgbClr val="D9972B"/>
            </a:solidFill>
            <a:prstDash val="solid"/>
          </a:ln>
        </p:spPr>
      </p:sp>
      <p:sp>
        <p:nvSpPr>
          <p:cNvPr id="10" name="Shape 8"/>
          <p:cNvSpPr/>
          <p:nvPr/>
        </p:nvSpPr>
        <p:spPr>
          <a:xfrm>
            <a:off x="5781751" y="1580083"/>
            <a:ext cx="1420978" cy="1036930"/>
          </a:xfrm>
          <a:prstGeom prst="ellipse">
            <a:avLst/>
          </a:prstGeom>
          <a:solidFill>
            <a:srgbClr val="FFFFFF">
              <a:alpha val="0"/>
            </a:srgbClr>
          </a:solidFill>
          <a:ln w="20320">
            <a:solidFill>
              <a:srgbClr val="1F6B8F"/>
            </a:solidFill>
            <a:prstDash val="solid"/>
          </a:ln>
        </p:spPr>
      </p:sp>
      <p:sp>
        <p:nvSpPr>
          <p:cNvPr id="11" name="Shape 9"/>
          <p:cNvSpPr/>
          <p:nvPr/>
        </p:nvSpPr>
        <p:spPr>
          <a:xfrm>
            <a:off x="5474513" y="1407262"/>
            <a:ext cx="1968246" cy="1363370"/>
          </a:xfrm>
          <a:prstGeom prst="ellipse">
            <a:avLst/>
          </a:prstGeom>
          <a:solidFill>
            <a:srgbClr val="FFFFFF">
              <a:alpha val="0"/>
            </a:srgbClr>
          </a:solidFill>
          <a:ln w="17145">
            <a:solidFill>
              <a:srgbClr val="4C9BB5"/>
            </a:solidFill>
            <a:prstDash val="solid"/>
          </a:ln>
        </p:spPr>
      </p:sp>
      <p:sp>
        <p:nvSpPr>
          <p:cNvPr id="12" name="Text 10"/>
          <p:cNvSpPr/>
          <p:nvPr/>
        </p:nvSpPr>
        <p:spPr>
          <a:xfrm>
            <a:off x="4956048" y="3822192"/>
            <a:ext cx="2697480" cy="292608"/>
          </a:xfrm>
          <a:prstGeom prst="rect">
            <a:avLst/>
          </a:prstGeom>
          <a:noFill/>
          <a:ln/>
        </p:spPr>
        <p:txBody>
          <a:bodyPr wrap="square" lIns="0" tIns="0" rIns="0" bIns="0" rtlCol="0" anchor="ctr"/>
          <a:lstStyle/>
          <a:p>
            <a:pPr algn="ctr" indent="0" marL="0">
              <a:buNone/>
            </a:pPr>
            <a:r>
              <a:rPr lang="en-US" sz="1800" b="1" dirty="0">
                <a:solidFill>
                  <a:srgbClr val="1F2933"/>
                </a:solidFill>
                <a:latin typeface="Arial" pitchFamily="34" charset="0"/>
                <a:ea typeface="Arial" pitchFamily="34" charset="-122"/>
                <a:cs typeface="Arial" pitchFamily="34" charset="-120"/>
              </a:rPr>
              <a:t>J1 = J2 = J3</a:t>
            </a:r>
            <a:endParaRPr lang="en-US" sz="1800" dirty="0"/>
          </a:p>
        </p:txBody>
      </p:sp>
      <p:sp>
        <p:nvSpPr>
          <p:cNvPr id="14" name="Text 11"/>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4/10</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What J Means in Plain Language</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Text 3"/>
          <p:cNvSpPr/>
          <p:nvPr/>
        </p:nvSpPr>
        <p:spPr>
          <a:xfrm>
            <a:off x="658368" y="1225296"/>
            <a:ext cx="3657600" cy="1737360"/>
          </a:xfrm>
          <a:prstGeom prst="rect">
            <a:avLst/>
          </a:prstGeom>
          <a:noFill/>
          <a:ln/>
        </p:spPr>
        <p:txBody>
          <a:bodyPr wrap="square" lIns="254" tIns="254" rIns="254" bIns="254" rtlCol="0" anchor="t">
            <a:normAutofit/>
          </a:bodyPr>
          <a:lstStyle/>
          <a:p>
            <a:r>
              <a:rPr lang="en-US" sz="1550" dirty="0">
                <a:solidFill>
                  <a:srgbClr val="1F2933"/>
                </a:solidFill>
                <a:latin typeface="Arial" pitchFamily="34" charset="0"/>
                <a:ea typeface="Arial" pitchFamily="34" charset="-122"/>
                <a:cs typeface="Arial" pitchFamily="34" charset="-120"/>
              </a:rPr>
              <a:t>J is crack-driving energy</a:t>
            </a:r>
            <a:endParaRPr lang="en-US" sz="1550" dirty="0"/>
          </a:p>
          <a:p>
            <a:r>
              <a:rPr lang="en-US" sz="1550" dirty="0">
                <a:solidFill>
                  <a:srgbClr val="1F2933"/>
                </a:solidFill>
                <a:latin typeface="Arial" pitchFamily="34" charset="0"/>
                <a:ea typeface="Arial" pitchFamily="34" charset="-122"/>
                <a:cs typeface="Arial" pitchFamily="34" charset="-120"/>
              </a:rPr>
              <a:t>It is not one stress value at the tip</a:t>
            </a:r>
            <a:endParaRPr lang="en-US" sz="1550" dirty="0"/>
          </a:p>
          <a:p>
            <a:r>
              <a:rPr lang="en-US" sz="1550" dirty="0">
                <a:solidFill>
                  <a:srgbClr val="1F2933"/>
                </a:solidFill>
                <a:latin typeface="Arial" pitchFamily="34" charset="0"/>
                <a:ea typeface="Arial" pitchFamily="34" charset="-122"/>
                <a:cs typeface="Arial" pitchFamily="34" charset="-120"/>
              </a:rPr>
              <a:t>Higher J means stronger drive for crack growth</a:t>
            </a:r>
            <a:endParaRPr lang="en-US" sz="1550" dirty="0"/>
          </a:p>
        </p:txBody>
      </p:sp>
      <p:sp>
        <p:nvSpPr>
          <p:cNvPr id="6" name="Shape 4"/>
          <p:cNvSpPr/>
          <p:nvPr/>
        </p:nvSpPr>
        <p:spPr>
          <a:xfrm>
            <a:off x="4892040" y="1170432"/>
            <a:ext cx="3387852" cy="1607058"/>
          </a:xfrm>
          <a:prstGeom prst="rect">
            <a:avLst/>
          </a:prstGeom>
          <a:solidFill>
            <a:srgbClr val="FFFFFF"/>
          </a:solidFill>
          <a:ln w="13970">
            <a:solidFill>
              <a:srgbClr val="CAD3DF"/>
            </a:solidFill>
            <a:prstDash val="solid"/>
          </a:ln>
        </p:spPr>
      </p:sp>
      <p:sp>
        <p:nvSpPr>
          <p:cNvPr id="7" name="Shape 5"/>
          <p:cNvSpPr/>
          <p:nvPr/>
        </p:nvSpPr>
        <p:spPr>
          <a:xfrm>
            <a:off x="5135270" y="1969618"/>
            <a:ext cx="1494130" cy="0"/>
          </a:xfrm>
          <a:prstGeom prst="line">
            <a:avLst/>
          </a:prstGeom>
          <a:noFill/>
          <a:ln w="41910">
            <a:solidFill>
              <a:srgbClr val="1F2933"/>
            </a:solidFill>
            <a:prstDash val="solid"/>
          </a:ln>
        </p:spPr>
      </p:sp>
      <p:sp>
        <p:nvSpPr>
          <p:cNvPr id="8" name="Shape 6"/>
          <p:cNvSpPr/>
          <p:nvPr/>
        </p:nvSpPr>
        <p:spPr>
          <a:xfrm>
            <a:off x="6507785" y="1882750"/>
            <a:ext cx="191110" cy="191110"/>
          </a:xfrm>
          <a:prstGeom prst="ellipse">
            <a:avLst/>
          </a:prstGeom>
          <a:solidFill>
            <a:srgbClr val="1F2933"/>
          </a:solidFill>
          <a:ln w="12700">
            <a:solidFill>
              <a:srgbClr val="1F2933"/>
            </a:solidFill>
            <a:prstDash val="solid"/>
          </a:ln>
        </p:spPr>
      </p:sp>
      <p:sp>
        <p:nvSpPr>
          <p:cNvPr id="9" name="Shape 7"/>
          <p:cNvSpPr/>
          <p:nvPr/>
        </p:nvSpPr>
        <p:spPr>
          <a:xfrm>
            <a:off x="6281928" y="1709014"/>
            <a:ext cx="651510" cy="503834"/>
          </a:xfrm>
          <a:prstGeom prst="ellipse">
            <a:avLst/>
          </a:prstGeom>
          <a:solidFill>
            <a:srgbClr val="D9972B">
              <a:alpha val="35000"/>
            </a:srgbClr>
          </a:solidFill>
          <a:ln w="16510">
            <a:solidFill>
              <a:srgbClr val="D9972B"/>
            </a:solidFill>
            <a:prstDash val="solid"/>
          </a:ln>
        </p:spPr>
      </p:sp>
      <p:sp>
        <p:nvSpPr>
          <p:cNvPr id="10" name="Shape 8"/>
          <p:cNvSpPr/>
          <p:nvPr/>
        </p:nvSpPr>
        <p:spPr>
          <a:xfrm>
            <a:off x="4590288" y="1883664"/>
            <a:ext cx="438912" cy="274320"/>
          </a:xfrm>
          <a:prstGeom prst="rightArrow">
            <a:avLst/>
          </a:prstGeom>
          <a:solidFill>
            <a:srgbClr val="D9972B"/>
          </a:solidFill>
          <a:ln w="12700">
            <a:solidFill>
              <a:srgbClr val="D9972B"/>
            </a:solidFill>
            <a:prstDash val="solid"/>
          </a:ln>
        </p:spPr>
      </p:sp>
      <p:sp>
        <p:nvSpPr>
          <p:cNvPr id="11" name="Shape 9"/>
          <p:cNvSpPr/>
          <p:nvPr/>
        </p:nvSpPr>
        <p:spPr>
          <a:xfrm>
            <a:off x="4590288" y="2322576"/>
            <a:ext cx="438912" cy="274320"/>
          </a:xfrm>
          <a:prstGeom prst="rightArrow">
            <a:avLst/>
          </a:prstGeom>
          <a:solidFill>
            <a:srgbClr val="D9972B"/>
          </a:solidFill>
          <a:ln w="12700">
            <a:solidFill>
              <a:srgbClr val="D9972B"/>
            </a:solidFill>
            <a:prstDash val="solid"/>
          </a:ln>
        </p:spPr>
      </p:sp>
      <p:sp>
        <p:nvSpPr>
          <p:cNvPr id="12" name="Text 10"/>
          <p:cNvSpPr/>
          <p:nvPr/>
        </p:nvSpPr>
        <p:spPr>
          <a:xfrm>
            <a:off x="4590288" y="3337560"/>
            <a:ext cx="2148840" cy="164592"/>
          </a:xfrm>
          <a:prstGeom prst="rect">
            <a:avLst/>
          </a:prstGeom>
          <a:noFill/>
          <a:ln/>
        </p:spPr>
        <p:txBody>
          <a:bodyPr wrap="square" lIns="0" tIns="0" rIns="0" bIns="0" rtlCol="0" anchor="ctr"/>
          <a:lstStyle/>
          <a:p>
            <a:pPr algn="ctr" indent="0" marL="0">
              <a:buNone/>
            </a:pPr>
            <a:r>
              <a:rPr lang="en-US" sz="1150" b="1" dirty="0">
                <a:solidFill>
                  <a:srgbClr val="D9972B"/>
                </a:solidFill>
                <a:latin typeface="Arial" pitchFamily="34" charset="0"/>
                <a:ea typeface="Arial" pitchFamily="34" charset="-122"/>
                <a:cs typeface="Arial" pitchFamily="34" charset="-120"/>
              </a:rPr>
              <a:t>energy into crack tip</a:t>
            </a:r>
            <a:endParaRPr lang="en-US" sz="1150" dirty="0"/>
          </a:p>
        </p:txBody>
      </p:sp>
      <p:sp>
        <p:nvSpPr>
          <p:cNvPr id="13" name="Shape 11"/>
          <p:cNvSpPr/>
          <p:nvPr/>
        </p:nvSpPr>
        <p:spPr>
          <a:xfrm>
            <a:off x="5669280" y="4005072"/>
            <a:ext cx="2423160" cy="0"/>
          </a:xfrm>
          <a:prstGeom prst="line">
            <a:avLst/>
          </a:prstGeom>
          <a:noFill/>
          <a:ln w="76200">
            <a:solidFill>
              <a:srgbClr val="CAD3DF"/>
            </a:solidFill>
            <a:prstDash val="solid"/>
          </a:ln>
        </p:spPr>
      </p:sp>
      <p:sp>
        <p:nvSpPr>
          <p:cNvPr id="14" name="Shape 12"/>
          <p:cNvSpPr/>
          <p:nvPr/>
        </p:nvSpPr>
        <p:spPr>
          <a:xfrm>
            <a:off x="5669280" y="4005072"/>
            <a:ext cx="1647749" cy="0"/>
          </a:xfrm>
          <a:prstGeom prst="line">
            <a:avLst/>
          </a:prstGeom>
          <a:noFill/>
          <a:ln w="76200">
            <a:solidFill>
              <a:srgbClr val="D9972B"/>
            </a:solidFill>
            <a:prstDash val="solid"/>
          </a:ln>
        </p:spPr>
      </p:sp>
      <p:sp>
        <p:nvSpPr>
          <p:cNvPr id="15" name="Shape 13"/>
          <p:cNvSpPr/>
          <p:nvPr/>
        </p:nvSpPr>
        <p:spPr>
          <a:xfrm>
            <a:off x="7234733" y="3922776"/>
            <a:ext cx="164592" cy="164592"/>
          </a:xfrm>
          <a:prstGeom prst="ellipse">
            <a:avLst/>
          </a:prstGeom>
          <a:solidFill>
            <a:srgbClr val="1F2933"/>
          </a:solidFill>
          <a:ln w="12700">
            <a:solidFill>
              <a:srgbClr val="1F2933"/>
            </a:solidFill>
            <a:prstDash val="solid"/>
          </a:ln>
        </p:spPr>
      </p:sp>
      <p:sp>
        <p:nvSpPr>
          <p:cNvPr id="16" name="Text 14"/>
          <p:cNvSpPr/>
          <p:nvPr/>
        </p:nvSpPr>
        <p:spPr>
          <a:xfrm>
            <a:off x="5623560" y="4206240"/>
            <a:ext cx="320040" cy="164592"/>
          </a:xfrm>
          <a:prstGeom prst="rect">
            <a:avLst/>
          </a:prstGeom>
          <a:noFill/>
          <a:ln/>
        </p:spPr>
        <p:txBody>
          <a:bodyPr wrap="square" lIns="0" tIns="0" rIns="0" bIns="0" rtlCol="0" anchor="ctr"/>
          <a:lstStyle/>
          <a:p>
            <a:pPr algn="l" indent="0" marL="0">
              <a:buNone/>
            </a:pPr>
            <a:r>
              <a:rPr lang="en-US" sz="900" dirty="0">
                <a:solidFill>
                  <a:srgbClr val="52606D"/>
                </a:solidFill>
                <a:latin typeface="Arial" pitchFamily="34" charset="0"/>
                <a:ea typeface="Arial" pitchFamily="34" charset="-122"/>
                <a:cs typeface="Arial" pitchFamily="34" charset="-120"/>
              </a:rPr>
              <a:t>low</a:t>
            </a:r>
            <a:endParaRPr lang="en-US" sz="900" dirty="0"/>
          </a:p>
        </p:txBody>
      </p:sp>
      <p:sp>
        <p:nvSpPr>
          <p:cNvPr id="17" name="Text 15"/>
          <p:cNvSpPr/>
          <p:nvPr/>
        </p:nvSpPr>
        <p:spPr>
          <a:xfrm>
            <a:off x="7726680" y="4206240"/>
            <a:ext cx="411480" cy="164592"/>
          </a:xfrm>
          <a:prstGeom prst="rect">
            <a:avLst/>
          </a:prstGeom>
          <a:noFill/>
          <a:ln/>
        </p:spPr>
        <p:txBody>
          <a:bodyPr wrap="square" lIns="0" tIns="0" rIns="0" bIns="0" rtlCol="0" anchor="ctr"/>
          <a:lstStyle/>
          <a:p>
            <a:pPr algn="r" indent="0" marL="0">
              <a:buNone/>
            </a:pPr>
            <a:r>
              <a:rPr lang="en-US" sz="900" dirty="0">
                <a:solidFill>
                  <a:srgbClr val="52606D"/>
                </a:solidFill>
                <a:latin typeface="Arial" pitchFamily="34" charset="0"/>
                <a:ea typeface="Arial" pitchFamily="34" charset="-122"/>
                <a:cs typeface="Arial" pitchFamily="34" charset="-120"/>
              </a:rPr>
              <a:t>high</a:t>
            </a:r>
            <a:endParaRPr lang="en-US" sz="900" dirty="0"/>
          </a:p>
        </p:txBody>
      </p:sp>
      <p:sp>
        <p:nvSpPr>
          <p:cNvPr id="18" name="Text 16"/>
          <p:cNvSpPr/>
          <p:nvPr/>
        </p:nvSpPr>
        <p:spPr>
          <a:xfrm>
            <a:off x="6638544" y="3593592"/>
            <a:ext cx="502920" cy="164592"/>
          </a:xfrm>
          <a:prstGeom prst="rect">
            <a:avLst/>
          </a:prstGeom>
          <a:noFill/>
          <a:ln/>
        </p:spPr>
        <p:txBody>
          <a:bodyPr wrap="square" lIns="0" tIns="0" rIns="0" bIns="0" rtlCol="0" anchor="ctr"/>
          <a:lstStyle/>
          <a:p>
            <a:pPr algn="ctr" indent="0" marL="0">
              <a:buNone/>
            </a:pPr>
            <a:r>
              <a:rPr lang="en-US" sz="1300" b="1" dirty="0">
                <a:solidFill>
                  <a:srgbClr val="1F2933"/>
                </a:solidFill>
                <a:latin typeface="Arial" pitchFamily="34" charset="0"/>
                <a:ea typeface="Arial" pitchFamily="34" charset="-122"/>
                <a:cs typeface="Arial" pitchFamily="34" charset="-120"/>
              </a:rPr>
              <a:t>J gauge</a:t>
            </a:r>
            <a:endParaRPr lang="en-US" sz="1300" dirty="0"/>
          </a:p>
        </p:txBody>
      </p:sp>
      <p:sp>
        <p:nvSpPr>
          <p:cNvPr id="20" name="Text 17"/>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5/10</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The Only Equation We Need</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Shape 3"/>
          <p:cNvSpPr/>
          <p:nvPr/>
        </p:nvSpPr>
        <p:spPr>
          <a:xfrm>
            <a:off x="676656" y="1234440"/>
            <a:ext cx="4206240" cy="658368"/>
          </a:xfrm>
          <a:prstGeom prst="rect">
            <a:avLst/>
          </a:prstGeom>
          <a:solidFill>
            <a:srgbClr val="FFFFFF"/>
          </a:solidFill>
          <a:ln w="15240">
            <a:solidFill>
              <a:srgbClr val="CAD3DF"/>
            </a:solidFill>
            <a:prstDash val="solid"/>
          </a:ln>
        </p:spPr>
      </p:sp>
      <p:sp>
        <p:nvSpPr>
          <p:cNvPr id="6" name="Text 4"/>
          <p:cNvSpPr/>
          <p:nvPr/>
        </p:nvSpPr>
        <p:spPr>
          <a:xfrm>
            <a:off x="868680" y="1463040"/>
            <a:ext cx="3794760" cy="201168"/>
          </a:xfrm>
          <a:prstGeom prst="rect">
            <a:avLst/>
          </a:prstGeom>
          <a:noFill/>
          <a:ln/>
        </p:spPr>
        <p:txBody>
          <a:bodyPr wrap="square" lIns="0" tIns="0" rIns="0" bIns="0" rtlCol="0" anchor="ctr">
            <a:normAutofit/>
          </a:bodyPr>
          <a:lstStyle/>
          <a:p>
            <a:pPr indent="0" marL="0">
              <a:buNone/>
            </a:pPr>
            <a:r>
              <a:rPr lang="en-US" sz="1380" b="1" dirty="0">
                <a:solidFill>
                  <a:srgbClr val="1F2933"/>
                </a:solidFill>
                <a:latin typeface="Courier New" pitchFamily="34" charset="0"/>
                <a:ea typeface="Courier New" pitchFamily="34" charset="-122"/>
                <a:cs typeface="Courier New" pitchFamily="34" charset="-120"/>
              </a:rPr>
              <a:t>J = contour integral ( W dy - T . du/dx ds )</a:t>
            </a:r>
            <a:endParaRPr lang="en-US" sz="1380" dirty="0"/>
          </a:p>
        </p:txBody>
      </p:sp>
      <p:sp>
        <p:nvSpPr>
          <p:cNvPr id="7" name="Text 5"/>
          <p:cNvSpPr/>
          <p:nvPr/>
        </p:nvSpPr>
        <p:spPr>
          <a:xfrm>
            <a:off x="804672" y="2194560"/>
            <a:ext cx="3657600" cy="1097280"/>
          </a:xfrm>
          <a:prstGeom prst="rect">
            <a:avLst/>
          </a:prstGeom>
          <a:noFill/>
          <a:ln/>
        </p:spPr>
        <p:txBody>
          <a:bodyPr wrap="square" lIns="254" tIns="254" rIns="254" bIns="254" rtlCol="0" anchor="t">
            <a:normAutofit/>
          </a:bodyPr>
          <a:lstStyle/>
          <a:p>
            <a:r>
              <a:rPr lang="en-US" sz="1450" dirty="0">
                <a:solidFill>
                  <a:srgbClr val="1F2933"/>
                </a:solidFill>
                <a:latin typeface="Arial" pitchFamily="34" charset="0"/>
                <a:ea typeface="Arial" pitchFamily="34" charset="-122"/>
                <a:cs typeface="Arial" pitchFamily="34" charset="-120"/>
              </a:rPr>
              <a:t>W: stored strain energy density</a:t>
            </a:r>
            <a:endParaRPr lang="en-US" sz="1450" dirty="0"/>
          </a:p>
          <a:p>
            <a:r>
              <a:rPr lang="en-US" sz="1450" dirty="0">
                <a:solidFill>
                  <a:srgbClr val="1F2933"/>
                </a:solidFill>
                <a:latin typeface="Arial" pitchFamily="34" charset="0"/>
                <a:ea typeface="Arial" pitchFamily="34" charset="-122"/>
                <a:cs typeface="Arial" pitchFamily="34" charset="-120"/>
              </a:rPr>
              <a:t>T: traction on the contour</a:t>
            </a:r>
            <a:endParaRPr lang="en-US" sz="1450" dirty="0"/>
          </a:p>
          <a:p>
            <a:r>
              <a:rPr lang="en-US" sz="1450" dirty="0">
                <a:solidFill>
                  <a:srgbClr val="1F2933"/>
                </a:solidFill>
                <a:latin typeface="Arial" pitchFamily="34" charset="0"/>
                <a:ea typeface="Arial" pitchFamily="34" charset="-122"/>
                <a:cs typeface="Arial" pitchFamily="34" charset="-120"/>
              </a:rPr>
              <a:t>u: displacement field</a:t>
            </a:r>
            <a:endParaRPr lang="en-US" sz="1450" dirty="0"/>
          </a:p>
        </p:txBody>
      </p:sp>
      <p:sp>
        <p:nvSpPr>
          <p:cNvPr id="8" name="Shape 6"/>
          <p:cNvSpPr/>
          <p:nvPr/>
        </p:nvSpPr>
        <p:spPr>
          <a:xfrm>
            <a:off x="5486400" y="1417320"/>
            <a:ext cx="2781605" cy="1319479"/>
          </a:xfrm>
          <a:prstGeom prst="rect">
            <a:avLst/>
          </a:prstGeom>
          <a:solidFill>
            <a:srgbClr val="FFFFFF"/>
          </a:solidFill>
          <a:ln w="13970">
            <a:solidFill>
              <a:srgbClr val="CAD3DF"/>
            </a:solidFill>
            <a:prstDash val="solid"/>
          </a:ln>
        </p:spPr>
      </p:sp>
      <p:sp>
        <p:nvSpPr>
          <p:cNvPr id="9" name="Shape 7"/>
          <p:cNvSpPr/>
          <p:nvPr/>
        </p:nvSpPr>
        <p:spPr>
          <a:xfrm>
            <a:off x="5686105" y="2073493"/>
            <a:ext cx="1226759" cy="0"/>
          </a:xfrm>
          <a:prstGeom prst="line">
            <a:avLst/>
          </a:prstGeom>
          <a:noFill/>
          <a:ln w="41910">
            <a:solidFill>
              <a:srgbClr val="1F2933"/>
            </a:solidFill>
            <a:prstDash val="solid"/>
          </a:ln>
        </p:spPr>
      </p:sp>
      <p:sp>
        <p:nvSpPr>
          <p:cNvPr id="10" name="Shape 8"/>
          <p:cNvSpPr/>
          <p:nvPr/>
        </p:nvSpPr>
        <p:spPr>
          <a:xfrm>
            <a:off x="6813012" y="2002170"/>
            <a:ext cx="156911" cy="156911"/>
          </a:xfrm>
          <a:prstGeom prst="ellipse">
            <a:avLst/>
          </a:prstGeom>
          <a:solidFill>
            <a:srgbClr val="1F2933"/>
          </a:solidFill>
          <a:ln w="12700">
            <a:solidFill>
              <a:srgbClr val="1F2933"/>
            </a:solidFill>
            <a:prstDash val="solid"/>
          </a:ln>
        </p:spPr>
      </p:sp>
      <p:sp>
        <p:nvSpPr>
          <p:cNvPr id="11" name="Shape 9"/>
          <p:cNvSpPr/>
          <p:nvPr/>
        </p:nvSpPr>
        <p:spPr>
          <a:xfrm>
            <a:off x="6584777" y="1809598"/>
            <a:ext cx="641909" cy="499262"/>
          </a:xfrm>
          <a:prstGeom prst="ellipse">
            <a:avLst/>
          </a:prstGeom>
          <a:solidFill>
            <a:srgbClr val="FFFFFF">
              <a:alpha val="0"/>
            </a:srgbClr>
          </a:solidFill>
          <a:ln w="22860">
            <a:solidFill>
              <a:srgbClr val="D9972B"/>
            </a:solidFill>
            <a:prstDash val="solid"/>
          </a:ln>
        </p:spPr>
      </p:sp>
      <p:sp>
        <p:nvSpPr>
          <p:cNvPr id="12" name="Shape 10"/>
          <p:cNvSpPr/>
          <p:nvPr/>
        </p:nvSpPr>
        <p:spPr>
          <a:xfrm>
            <a:off x="6385072" y="1674084"/>
            <a:ext cx="1055583" cy="770291"/>
          </a:xfrm>
          <a:prstGeom prst="ellipse">
            <a:avLst/>
          </a:prstGeom>
          <a:solidFill>
            <a:srgbClr val="FFFFFF">
              <a:alpha val="0"/>
            </a:srgbClr>
          </a:solidFill>
          <a:ln w="20320">
            <a:solidFill>
              <a:srgbClr val="1F6B8F"/>
            </a:solidFill>
            <a:prstDash val="solid"/>
          </a:ln>
        </p:spPr>
      </p:sp>
      <p:sp>
        <p:nvSpPr>
          <p:cNvPr id="13" name="Shape 11"/>
          <p:cNvSpPr/>
          <p:nvPr/>
        </p:nvSpPr>
        <p:spPr>
          <a:xfrm>
            <a:off x="6156838" y="1545702"/>
            <a:ext cx="1462126" cy="1012789"/>
          </a:xfrm>
          <a:prstGeom prst="ellipse">
            <a:avLst/>
          </a:prstGeom>
          <a:solidFill>
            <a:srgbClr val="FFFFFF">
              <a:alpha val="0"/>
            </a:srgbClr>
          </a:solidFill>
          <a:ln w="17145">
            <a:solidFill>
              <a:srgbClr val="4C9BB5"/>
            </a:solidFill>
            <a:prstDash val="solid"/>
          </a:ln>
        </p:spPr>
      </p:sp>
      <p:sp>
        <p:nvSpPr>
          <p:cNvPr id="14" name="Shape 12"/>
          <p:cNvSpPr/>
          <p:nvPr/>
        </p:nvSpPr>
        <p:spPr>
          <a:xfrm>
            <a:off x="6080760" y="3072384"/>
            <a:ext cx="-594360" cy="429768"/>
          </a:xfrm>
          <a:prstGeom prst="line">
            <a:avLst/>
          </a:prstGeom>
          <a:noFill/>
          <a:ln w="16510">
            <a:solidFill>
              <a:srgbClr val="D9972B"/>
            </a:solidFill>
            <a:prstDash val="solid"/>
          </a:ln>
        </p:spPr>
      </p:sp>
      <p:sp>
        <p:nvSpPr>
          <p:cNvPr id="15" name="Text 13"/>
          <p:cNvSpPr/>
          <p:nvPr/>
        </p:nvSpPr>
        <p:spPr>
          <a:xfrm>
            <a:off x="4974336" y="3547872"/>
            <a:ext cx="1325880" cy="164592"/>
          </a:xfrm>
          <a:prstGeom prst="rect">
            <a:avLst/>
          </a:prstGeom>
          <a:noFill/>
          <a:ln/>
        </p:spPr>
        <p:txBody>
          <a:bodyPr wrap="square" lIns="0" tIns="0" rIns="0" bIns="0" rtlCol="0" anchor="ctr"/>
          <a:lstStyle/>
          <a:p>
            <a:pPr algn="ctr" indent="0" marL="0">
              <a:buNone/>
            </a:pPr>
            <a:r>
              <a:rPr lang="en-US" sz="1100" b="1" dirty="0">
                <a:solidFill>
                  <a:srgbClr val="D9972B"/>
                </a:solidFill>
                <a:latin typeface="Arial" pitchFamily="34" charset="0"/>
                <a:ea typeface="Arial" pitchFamily="34" charset="-122"/>
                <a:cs typeface="Arial" pitchFamily="34" charset="-120"/>
              </a:rPr>
              <a:t>contour around tip</a:t>
            </a:r>
            <a:endParaRPr lang="en-US" sz="1100" dirty="0"/>
          </a:p>
        </p:txBody>
      </p:sp>
      <p:sp>
        <p:nvSpPr>
          <p:cNvPr id="17" name="Text 14"/>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6/10</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Illustrative engineering case</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Case Study 1: Cracked Steel Bracket</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Text 3"/>
          <p:cNvSpPr/>
          <p:nvPr/>
        </p:nvSpPr>
        <p:spPr>
          <a:xfrm>
            <a:off x="658368" y="1207008"/>
            <a:ext cx="3566160" cy="1828800"/>
          </a:xfrm>
          <a:prstGeom prst="rect">
            <a:avLst/>
          </a:prstGeom>
          <a:noFill/>
          <a:ln/>
        </p:spPr>
        <p:txBody>
          <a:bodyPr wrap="square" lIns="254" tIns="254" rIns="254" bIns="254" rtlCol="0" anchor="t">
            <a:normAutofit/>
          </a:bodyPr>
          <a:lstStyle/>
          <a:p>
            <a:r>
              <a:rPr lang="en-US" sz="1450" dirty="0">
                <a:solidFill>
                  <a:srgbClr val="1F2933"/>
                </a:solidFill>
                <a:latin typeface="Arial" pitchFamily="34" charset="0"/>
                <a:ea typeface="Arial" pitchFamily="34" charset="-122"/>
                <a:cs typeface="Arial" pitchFamily="34" charset="-120"/>
              </a:rPr>
              <a:t>Identify crack and load</a:t>
            </a:r>
            <a:endParaRPr lang="en-US" sz="1450" dirty="0"/>
          </a:p>
          <a:p>
            <a:r>
              <a:rPr lang="en-US" sz="1450" dirty="0">
                <a:solidFill>
                  <a:srgbClr val="1F2933"/>
                </a:solidFill>
                <a:latin typeface="Arial" pitchFamily="34" charset="0"/>
                <a:ea typeface="Arial" pitchFamily="34" charset="-122"/>
                <a:cs typeface="Arial" pitchFamily="34" charset="-120"/>
              </a:rPr>
              <a:t>Calculate J around the tip</a:t>
            </a:r>
            <a:endParaRPr lang="en-US" sz="1450" dirty="0"/>
          </a:p>
          <a:p>
            <a:r>
              <a:rPr lang="en-US" sz="1450" dirty="0">
                <a:solidFill>
                  <a:srgbClr val="1F2933"/>
                </a:solidFill>
                <a:latin typeface="Arial" pitchFamily="34" charset="0"/>
                <a:ea typeface="Arial" pitchFamily="34" charset="-122"/>
                <a:cs typeface="Arial" pitchFamily="34" charset="-120"/>
              </a:rPr>
              <a:t>Compare with material resistance Jc</a:t>
            </a:r>
            <a:endParaRPr lang="en-US" sz="1450" dirty="0"/>
          </a:p>
          <a:p>
            <a:r>
              <a:rPr lang="en-US" sz="1450" dirty="0">
                <a:solidFill>
                  <a:srgbClr val="1F2933"/>
                </a:solidFill>
                <a:latin typeface="Arial" pitchFamily="34" charset="0"/>
                <a:ea typeface="Arial" pitchFamily="34" charset="-122"/>
                <a:cs typeface="Arial" pitchFamily="34" charset="-120"/>
              </a:rPr>
              <a:t>Decide: monitor, repair, or redesign</a:t>
            </a:r>
            <a:endParaRPr lang="en-US" sz="1450" dirty="0"/>
          </a:p>
        </p:txBody>
      </p:sp>
      <p:sp>
        <p:nvSpPr>
          <p:cNvPr id="6" name="Shape 4"/>
          <p:cNvSpPr/>
          <p:nvPr/>
        </p:nvSpPr>
        <p:spPr>
          <a:xfrm>
            <a:off x="4709160" y="1234440"/>
            <a:ext cx="2377440" cy="2057400"/>
          </a:xfrm>
          <a:prstGeom prst="rect">
            <a:avLst/>
          </a:prstGeom>
          <a:solidFill>
            <a:srgbClr val="FFFFFF"/>
          </a:solidFill>
          <a:ln w="15240">
            <a:solidFill>
              <a:srgbClr val="CAD3DF"/>
            </a:solidFill>
            <a:prstDash val="solid"/>
          </a:ln>
        </p:spPr>
      </p:sp>
      <p:sp>
        <p:nvSpPr>
          <p:cNvPr id="7" name="Shape 5"/>
          <p:cNvSpPr/>
          <p:nvPr/>
        </p:nvSpPr>
        <p:spPr>
          <a:xfrm>
            <a:off x="5440680" y="1828800"/>
            <a:ext cx="594360" cy="594360"/>
          </a:xfrm>
          <a:prstGeom prst="ellipse">
            <a:avLst/>
          </a:prstGeom>
          <a:solidFill>
            <a:srgbClr val="F5F7FA"/>
          </a:solidFill>
          <a:ln w="17780">
            <a:solidFill>
              <a:srgbClr val="1F6B8F"/>
            </a:solidFill>
            <a:prstDash val="solid"/>
          </a:ln>
        </p:spPr>
      </p:sp>
      <p:sp>
        <p:nvSpPr>
          <p:cNvPr id="8" name="Shape 6"/>
          <p:cNvSpPr/>
          <p:nvPr/>
        </p:nvSpPr>
        <p:spPr>
          <a:xfrm>
            <a:off x="5961888" y="2130552"/>
            <a:ext cx="658368" cy="0"/>
          </a:xfrm>
          <a:prstGeom prst="line">
            <a:avLst/>
          </a:prstGeom>
          <a:noFill/>
          <a:ln w="30480">
            <a:solidFill>
              <a:srgbClr val="1F2933"/>
            </a:solidFill>
            <a:prstDash val="solid"/>
          </a:ln>
        </p:spPr>
      </p:sp>
      <p:sp>
        <p:nvSpPr>
          <p:cNvPr id="9" name="Shape 7"/>
          <p:cNvSpPr/>
          <p:nvPr/>
        </p:nvSpPr>
        <p:spPr>
          <a:xfrm>
            <a:off x="6419088" y="1929384"/>
            <a:ext cx="475488" cy="384048"/>
          </a:xfrm>
          <a:prstGeom prst="ellipse">
            <a:avLst/>
          </a:prstGeom>
          <a:solidFill>
            <a:srgbClr val="FFFFFF">
              <a:alpha val="0"/>
            </a:srgbClr>
          </a:solidFill>
          <a:ln w="19050">
            <a:solidFill>
              <a:srgbClr val="D9972B"/>
            </a:solidFill>
            <a:prstDash val="solid"/>
          </a:ln>
        </p:spPr>
      </p:sp>
      <p:sp>
        <p:nvSpPr>
          <p:cNvPr id="10" name="Text 8"/>
          <p:cNvSpPr/>
          <p:nvPr/>
        </p:nvSpPr>
        <p:spPr>
          <a:xfrm>
            <a:off x="5285232" y="2578608"/>
            <a:ext cx="868680" cy="164592"/>
          </a:xfrm>
          <a:prstGeom prst="rect">
            <a:avLst/>
          </a:prstGeom>
          <a:noFill/>
          <a:ln/>
        </p:spPr>
        <p:txBody>
          <a:bodyPr wrap="square" lIns="0" tIns="0" rIns="0" bIns="0" rtlCol="0" anchor="ctr"/>
          <a:lstStyle/>
          <a:p>
            <a:pPr algn="ctr" indent="0" marL="0">
              <a:buNone/>
            </a:pPr>
            <a:r>
              <a:rPr lang="en-US" sz="1050" b="1" dirty="0">
                <a:solidFill>
                  <a:srgbClr val="1F6B8F"/>
                </a:solidFill>
                <a:latin typeface="Arial" pitchFamily="34" charset="0"/>
                <a:ea typeface="Arial" pitchFamily="34" charset="-122"/>
                <a:cs typeface="Arial" pitchFamily="34" charset="-120"/>
              </a:rPr>
              <a:t>bolt hole</a:t>
            </a:r>
            <a:endParaRPr lang="en-US" sz="1050" dirty="0"/>
          </a:p>
        </p:txBody>
      </p:sp>
      <p:sp>
        <p:nvSpPr>
          <p:cNvPr id="11" name="Text 9"/>
          <p:cNvSpPr/>
          <p:nvPr/>
        </p:nvSpPr>
        <p:spPr>
          <a:xfrm>
            <a:off x="6199632" y="2578608"/>
            <a:ext cx="1097280" cy="164592"/>
          </a:xfrm>
          <a:prstGeom prst="rect">
            <a:avLst/>
          </a:prstGeom>
          <a:noFill/>
          <a:ln/>
        </p:spPr>
        <p:txBody>
          <a:bodyPr wrap="square" lIns="0" tIns="0" rIns="0" bIns="0" rtlCol="0" anchor="ctr"/>
          <a:lstStyle/>
          <a:p>
            <a:pPr algn="ctr" indent="0" marL="0">
              <a:buNone/>
            </a:pPr>
            <a:r>
              <a:rPr lang="en-US" sz="1050" b="1" dirty="0">
                <a:solidFill>
                  <a:srgbClr val="D9972B"/>
                </a:solidFill>
                <a:latin typeface="Arial" pitchFamily="34" charset="0"/>
                <a:ea typeface="Arial" pitchFamily="34" charset="-122"/>
                <a:cs typeface="Arial" pitchFamily="34" charset="-120"/>
              </a:rPr>
              <a:t>crack + contour</a:t>
            </a:r>
            <a:endParaRPr lang="en-US" sz="1050" dirty="0"/>
          </a:p>
        </p:txBody>
      </p:sp>
      <p:sp>
        <p:nvSpPr>
          <p:cNvPr id="12" name="Shape 10"/>
          <p:cNvSpPr/>
          <p:nvPr/>
        </p:nvSpPr>
        <p:spPr>
          <a:xfrm>
            <a:off x="5486400" y="3858768"/>
            <a:ext cx="2423160" cy="0"/>
          </a:xfrm>
          <a:prstGeom prst="line">
            <a:avLst/>
          </a:prstGeom>
          <a:noFill/>
          <a:ln w="76200">
            <a:solidFill>
              <a:srgbClr val="CAD3DF"/>
            </a:solidFill>
            <a:prstDash val="solid"/>
          </a:ln>
        </p:spPr>
      </p:sp>
      <p:sp>
        <p:nvSpPr>
          <p:cNvPr id="13" name="Shape 11"/>
          <p:cNvSpPr/>
          <p:nvPr/>
        </p:nvSpPr>
        <p:spPr>
          <a:xfrm>
            <a:off x="5486400" y="3858768"/>
            <a:ext cx="1405433" cy="0"/>
          </a:xfrm>
          <a:prstGeom prst="line">
            <a:avLst/>
          </a:prstGeom>
          <a:noFill/>
          <a:ln w="76200">
            <a:solidFill>
              <a:srgbClr val="D9972B"/>
            </a:solidFill>
            <a:prstDash val="solid"/>
          </a:ln>
        </p:spPr>
      </p:sp>
      <p:sp>
        <p:nvSpPr>
          <p:cNvPr id="14" name="Shape 12"/>
          <p:cNvSpPr/>
          <p:nvPr/>
        </p:nvSpPr>
        <p:spPr>
          <a:xfrm>
            <a:off x="6809537" y="3776472"/>
            <a:ext cx="164592" cy="164592"/>
          </a:xfrm>
          <a:prstGeom prst="ellipse">
            <a:avLst/>
          </a:prstGeom>
          <a:solidFill>
            <a:srgbClr val="1F2933"/>
          </a:solidFill>
          <a:ln w="12700">
            <a:solidFill>
              <a:srgbClr val="1F2933"/>
            </a:solidFill>
            <a:prstDash val="solid"/>
          </a:ln>
        </p:spPr>
      </p:sp>
      <p:sp>
        <p:nvSpPr>
          <p:cNvPr id="15" name="Text 13"/>
          <p:cNvSpPr/>
          <p:nvPr/>
        </p:nvSpPr>
        <p:spPr>
          <a:xfrm>
            <a:off x="5440680" y="4059936"/>
            <a:ext cx="320040" cy="164592"/>
          </a:xfrm>
          <a:prstGeom prst="rect">
            <a:avLst/>
          </a:prstGeom>
          <a:noFill/>
          <a:ln/>
        </p:spPr>
        <p:txBody>
          <a:bodyPr wrap="square" lIns="0" tIns="0" rIns="0" bIns="0" rtlCol="0" anchor="ctr"/>
          <a:lstStyle/>
          <a:p>
            <a:pPr algn="l" indent="0" marL="0">
              <a:buNone/>
            </a:pPr>
            <a:r>
              <a:rPr lang="en-US" sz="900" dirty="0">
                <a:solidFill>
                  <a:srgbClr val="52606D"/>
                </a:solidFill>
                <a:latin typeface="Arial" pitchFamily="34" charset="0"/>
                <a:ea typeface="Arial" pitchFamily="34" charset="-122"/>
                <a:cs typeface="Arial" pitchFamily="34" charset="-120"/>
              </a:rPr>
              <a:t>low</a:t>
            </a:r>
            <a:endParaRPr lang="en-US" sz="900" dirty="0"/>
          </a:p>
        </p:txBody>
      </p:sp>
      <p:sp>
        <p:nvSpPr>
          <p:cNvPr id="16" name="Text 14"/>
          <p:cNvSpPr/>
          <p:nvPr/>
        </p:nvSpPr>
        <p:spPr>
          <a:xfrm>
            <a:off x="7543800" y="4059936"/>
            <a:ext cx="411480" cy="164592"/>
          </a:xfrm>
          <a:prstGeom prst="rect">
            <a:avLst/>
          </a:prstGeom>
          <a:noFill/>
          <a:ln/>
        </p:spPr>
        <p:txBody>
          <a:bodyPr wrap="square" lIns="0" tIns="0" rIns="0" bIns="0" rtlCol="0" anchor="ctr"/>
          <a:lstStyle/>
          <a:p>
            <a:pPr algn="r" indent="0" marL="0">
              <a:buNone/>
            </a:pPr>
            <a:r>
              <a:rPr lang="en-US" sz="900" dirty="0">
                <a:solidFill>
                  <a:srgbClr val="52606D"/>
                </a:solidFill>
                <a:latin typeface="Arial" pitchFamily="34" charset="0"/>
                <a:ea typeface="Arial" pitchFamily="34" charset="-122"/>
                <a:cs typeface="Arial" pitchFamily="34" charset="-120"/>
              </a:rPr>
              <a:t>high</a:t>
            </a:r>
            <a:endParaRPr lang="en-US" sz="900" dirty="0"/>
          </a:p>
        </p:txBody>
      </p:sp>
      <p:sp>
        <p:nvSpPr>
          <p:cNvPr id="17" name="Text 15"/>
          <p:cNvSpPr/>
          <p:nvPr/>
        </p:nvSpPr>
        <p:spPr>
          <a:xfrm>
            <a:off x="6455664" y="3447288"/>
            <a:ext cx="502920" cy="164592"/>
          </a:xfrm>
          <a:prstGeom prst="rect">
            <a:avLst/>
          </a:prstGeom>
          <a:noFill/>
          <a:ln/>
        </p:spPr>
        <p:txBody>
          <a:bodyPr wrap="square" lIns="0" tIns="0" rIns="0" bIns="0" rtlCol="0" anchor="ctr"/>
          <a:lstStyle/>
          <a:p>
            <a:pPr algn="ctr" indent="0" marL="0">
              <a:buNone/>
            </a:pPr>
            <a:r>
              <a:rPr lang="en-US" sz="1300" b="1" dirty="0">
                <a:solidFill>
                  <a:srgbClr val="1F2933"/>
                </a:solidFill>
                <a:latin typeface="Arial" pitchFamily="34" charset="0"/>
                <a:ea typeface="Arial" pitchFamily="34" charset="-122"/>
                <a:cs typeface="Arial" pitchFamily="34" charset="-120"/>
              </a:rPr>
              <a:t>applied J vs Jc</a:t>
            </a:r>
            <a:endParaRPr lang="en-US" sz="1300" dirty="0"/>
          </a:p>
        </p:txBody>
      </p:sp>
      <p:sp>
        <p:nvSpPr>
          <p:cNvPr id="19" name="Text 16"/>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7/10</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Illustrative engineering case</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Case Study 2: Welded Pipe Crack</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Text 3"/>
          <p:cNvSpPr/>
          <p:nvPr/>
        </p:nvSpPr>
        <p:spPr>
          <a:xfrm>
            <a:off x="658368" y="1225296"/>
            <a:ext cx="3566160" cy="1508760"/>
          </a:xfrm>
          <a:prstGeom prst="rect">
            <a:avLst/>
          </a:prstGeom>
          <a:noFill/>
          <a:ln/>
        </p:spPr>
        <p:txBody>
          <a:bodyPr wrap="square" lIns="254" tIns="254" rIns="254" bIns="254" rtlCol="0" anchor="t">
            <a:normAutofit/>
          </a:bodyPr>
          <a:lstStyle/>
          <a:p>
            <a:r>
              <a:rPr lang="en-US" sz="1480" dirty="0">
                <a:solidFill>
                  <a:srgbClr val="1F2933"/>
                </a:solidFill>
                <a:latin typeface="Arial" pitchFamily="34" charset="0"/>
                <a:ea typeface="Arial" pitchFamily="34" charset="-122"/>
                <a:cs typeface="Arial" pitchFamily="34" charset="-120"/>
              </a:rPr>
              <a:t>Weld region raises local severity</a:t>
            </a:r>
            <a:endParaRPr lang="en-US" sz="1480" dirty="0"/>
          </a:p>
          <a:p>
            <a:r>
              <a:rPr lang="en-US" sz="1480" dirty="0">
                <a:solidFill>
                  <a:srgbClr val="1F2933"/>
                </a:solidFill>
                <a:latin typeface="Arial" pitchFamily="34" charset="0"/>
                <a:ea typeface="Arial" pitchFamily="34" charset="-122"/>
                <a:cs typeface="Arial" pitchFamily="34" charset="-120"/>
              </a:rPr>
              <a:t>Crack tip may yield locally</a:t>
            </a:r>
            <a:endParaRPr lang="en-US" sz="1480" dirty="0"/>
          </a:p>
          <a:p>
            <a:r>
              <a:rPr lang="en-US" sz="1480" dirty="0">
                <a:solidFill>
                  <a:srgbClr val="1F2933"/>
                </a:solidFill>
                <a:latin typeface="Arial" pitchFamily="34" charset="0"/>
                <a:ea typeface="Arial" pitchFamily="34" charset="-122"/>
                <a:cs typeface="Arial" pitchFamily="34" charset="-120"/>
              </a:rPr>
              <a:t>J handles nonlinear crack-driving force</a:t>
            </a:r>
            <a:endParaRPr lang="en-US" sz="1480" dirty="0"/>
          </a:p>
        </p:txBody>
      </p:sp>
      <p:sp>
        <p:nvSpPr>
          <p:cNvPr id="6" name="Shape 4"/>
          <p:cNvSpPr/>
          <p:nvPr/>
        </p:nvSpPr>
        <p:spPr>
          <a:xfrm>
            <a:off x="4892040" y="1371600"/>
            <a:ext cx="2560320" cy="2560320"/>
          </a:xfrm>
          <a:prstGeom prst="arc">
            <a:avLst/>
          </a:prstGeom>
          <a:solidFill>
            <a:srgbClr val="FFFFFF">
              <a:alpha val="0"/>
            </a:srgbClr>
          </a:solidFill>
          <a:ln w="29210">
            <a:solidFill>
              <a:srgbClr val="1F2933"/>
            </a:solidFill>
            <a:prstDash val="solid"/>
          </a:ln>
        </p:spPr>
      </p:sp>
      <p:sp>
        <p:nvSpPr>
          <p:cNvPr id="7" name="Shape 5"/>
          <p:cNvSpPr/>
          <p:nvPr/>
        </p:nvSpPr>
        <p:spPr>
          <a:xfrm>
            <a:off x="5257800" y="1737360"/>
            <a:ext cx="1828800" cy="1828800"/>
          </a:xfrm>
          <a:prstGeom prst="arc">
            <a:avLst/>
          </a:prstGeom>
          <a:solidFill>
            <a:srgbClr val="FFFFFF">
              <a:alpha val="0"/>
            </a:srgbClr>
          </a:solidFill>
          <a:ln w="29210">
            <a:solidFill>
              <a:srgbClr val="CAD3DF"/>
            </a:solidFill>
            <a:prstDash val="solid"/>
          </a:ln>
        </p:spPr>
      </p:sp>
      <p:sp>
        <p:nvSpPr>
          <p:cNvPr id="8" name="Shape 6"/>
          <p:cNvSpPr/>
          <p:nvPr/>
        </p:nvSpPr>
        <p:spPr>
          <a:xfrm>
            <a:off x="5989320" y="1499616"/>
            <a:ext cx="201168" cy="2331720"/>
          </a:xfrm>
          <a:prstGeom prst="rect">
            <a:avLst/>
          </a:prstGeom>
          <a:solidFill>
            <a:srgbClr val="E8EEF5"/>
          </a:solidFill>
          <a:ln w="12700">
            <a:solidFill>
              <a:srgbClr val="4C9BB5"/>
            </a:solidFill>
            <a:prstDash val="solid"/>
          </a:ln>
        </p:spPr>
      </p:sp>
      <p:sp>
        <p:nvSpPr>
          <p:cNvPr id="9" name="Shape 7"/>
          <p:cNvSpPr/>
          <p:nvPr/>
        </p:nvSpPr>
        <p:spPr>
          <a:xfrm>
            <a:off x="6089904" y="2331720"/>
            <a:ext cx="685800" cy="0"/>
          </a:xfrm>
          <a:prstGeom prst="line">
            <a:avLst/>
          </a:prstGeom>
          <a:noFill/>
          <a:ln w="27940">
            <a:solidFill>
              <a:srgbClr val="1F2933"/>
            </a:solidFill>
            <a:prstDash val="solid"/>
          </a:ln>
        </p:spPr>
      </p:sp>
      <p:sp>
        <p:nvSpPr>
          <p:cNvPr id="10" name="Shape 8"/>
          <p:cNvSpPr/>
          <p:nvPr/>
        </p:nvSpPr>
        <p:spPr>
          <a:xfrm>
            <a:off x="6565392" y="2139696"/>
            <a:ext cx="457200" cy="347472"/>
          </a:xfrm>
          <a:prstGeom prst="ellipse">
            <a:avLst/>
          </a:prstGeom>
          <a:solidFill>
            <a:srgbClr val="FFFFFF">
              <a:alpha val="0"/>
            </a:srgbClr>
          </a:solidFill>
          <a:ln w="19050">
            <a:solidFill>
              <a:srgbClr val="D9972B"/>
            </a:solidFill>
            <a:prstDash val="solid"/>
          </a:ln>
        </p:spPr>
      </p:sp>
      <p:sp>
        <p:nvSpPr>
          <p:cNvPr id="11" name="Shape 9"/>
          <p:cNvSpPr/>
          <p:nvPr/>
        </p:nvSpPr>
        <p:spPr>
          <a:xfrm>
            <a:off x="4507992" y="2148840"/>
            <a:ext cx="320040" cy="274320"/>
          </a:xfrm>
          <a:prstGeom prst="rightArrow">
            <a:avLst/>
          </a:prstGeom>
          <a:solidFill>
            <a:srgbClr val="1F6B8F"/>
          </a:solidFill>
          <a:ln w="12700">
            <a:solidFill>
              <a:srgbClr val="1F6B8F"/>
            </a:solidFill>
            <a:prstDash val="solid"/>
          </a:ln>
        </p:spPr>
      </p:sp>
      <p:sp>
        <p:nvSpPr>
          <p:cNvPr id="12" name="Shape 10"/>
          <p:cNvSpPr/>
          <p:nvPr/>
        </p:nvSpPr>
        <p:spPr>
          <a:xfrm>
            <a:off x="7543800" y="2148840"/>
            <a:ext cx="320040" cy="274320"/>
          </a:xfrm>
          <a:prstGeom prst="leftArrow">
            <a:avLst/>
          </a:prstGeom>
          <a:solidFill>
            <a:srgbClr val="1F6B8F"/>
          </a:solidFill>
          <a:ln w="12700">
            <a:solidFill>
              <a:srgbClr val="1F6B8F"/>
            </a:solidFill>
            <a:prstDash val="solid"/>
          </a:ln>
        </p:spPr>
      </p:sp>
      <p:sp>
        <p:nvSpPr>
          <p:cNvPr id="13" name="Text 11"/>
          <p:cNvSpPr/>
          <p:nvPr/>
        </p:nvSpPr>
        <p:spPr>
          <a:xfrm>
            <a:off x="4846320" y="3886200"/>
            <a:ext cx="2651760" cy="164592"/>
          </a:xfrm>
          <a:prstGeom prst="rect">
            <a:avLst/>
          </a:prstGeom>
          <a:noFill/>
          <a:ln/>
        </p:spPr>
        <p:txBody>
          <a:bodyPr wrap="square" lIns="0" tIns="0" rIns="0" bIns="0" rtlCol="0" anchor="ctr"/>
          <a:lstStyle/>
          <a:p>
            <a:pPr algn="ctr" indent="0" marL="0">
              <a:buNone/>
            </a:pPr>
            <a:r>
              <a:rPr lang="en-US" sz="1100" b="1" dirty="0">
                <a:solidFill>
                  <a:srgbClr val="1F6B8F"/>
                </a:solidFill>
                <a:latin typeface="Arial" pitchFamily="34" charset="0"/>
                <a:ea typeface="Arial" pitchFamily="34" charset="-122"/>
                <a:cs typeface="Arial" pitchFamily="34" charset="-120"/>
              </a:rPr>
              <a:t>pressure / service load</a:t>
            </a:r>
            <a:endParaRPr lang="en-US" sz="1100" dirty="0"/>
          </a:p>
        </p:txBody>
      </p:sp>
      <p:sp>
        <p:nvSpPr>
          <p:cNvPr id="14" name="Text 12"/>
          <p:cNvSpPr/>
          <p:nvPr/>
        </p:nvSpPr>
        <p:spPr>
          <a:xfrm>
            <a:off x="5715000" y="1170432"/>
            <a:ext cx="822960" cy="164592"/>
          </a:xfrm>
          <a:prstGeom prst="rect">
            <a:avLst/>
          </a:prstGeom>
          <a:noFill/>
          <a:ln/>
        </p:spPr>
        <p:txBody>
          <a:bodyPr wrap="square" lIns="0" tIns="0" rIns="0" bIns="0" rtlCol="0" anchor="ctr"/>
          <a:lstStyle/>
          <a:p>
            <a:pPr algn="ctr" indent="0" marL="0">
              <a:buNone/>
            </a:pPr>
            <a:r>
              <a:rPr lang="en-US" sz="1100" b="1" dirty="0">
                <a:solidFill>
                  <a:srgbClr val="4C9BB5"/>
                </a:solidFill>
                <a:latin typeface="Arial" pitchFamily="34" charset="0"/>
                <a:ea typeface="Arial" pitchFamily="34" charset="-122"/>
                <a:cs typeface="Arial" pitchFamily="34" charset="-120"/>
              </a:rPr>
              <a:t>weld</a:t>
            </a:r>
            <a:endParaRPr lang="en-US" sz="1100" dirty="0"/>
          </a:p>
        </p:txBody>
      </p:sp>
      <p:sp>
        <p:nvSpPr>
          <p:cNvPr id="15" name="Text 13"/>
          <p:cNvSpPr/>
          <p:nvPr/>
        </p:nvSpPr>
        <p:spPr>
          <a:xfrm>
            <a:off x="6400800" y="2633472"/>
            <a:ext cx="1097280" cy="164592"/>
          </a:xfrm>
          <a:prstGeom prst="rect">
            <a:avLst/>
          </a:prstGeom>
          <a:noFill/>
          <a:ln/>
        </p:spPr>
        <p:txBody>
          <a:bodyPr wrap="square" lIns="0" tIns="0" rIns="0" bIns="0" rtlCol="0" anchor="ctr"/>
          <a:lstStyle/>
          <a:p>
            <a:pPr algn="ctr" indent="0" marL="0">
              <a:buNone/>
            </a:pPr>
            <a:r>
              <a:rPr lang="en-US" sz="1050" b="1" dirty="0">
                <a:solidFill>
                  <a:srgbClr val="D9972B"/>
                </a:solidFill>
                <a:latin typeface="Arial" pitchFamily="34" charset="0"/>
                <a:ea typeface="Arial" pitchFamily="34" charset="-122"/>
                <a:cs typeface="Arial" pitchFamily="34" charset="-120"/>
              </a:rPr>
              <a:t>crack contour</a:t>
            </a:r>
            <a:endParaRPr lang="en-US" sz="1050" dirty="0"/>
          </a:p>
        </p:txBody>
      </p:sp>
      <p:sp>
        <p:nvSpPr>
          <p:cNvPr id="17" name="Text 14"/>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8/10</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What Rice Changed</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Shape 3"/>
          <p:cNvSpPr/>
          <p:nvPr/>
        </p:nvSpPr>
        <p:spPr>
          <a:xfrm>
            <a:off x="1325880" y="2560320"/>
            <a:ext cx="6309360" cy="0"/>
          </a:xfrm>
          <a:prstGeom prst="line">
            <a:avLst/>
          </a:prstGeom>
          <a:noFill/>
          <a:ln w="50800">
            <a:solidFill>
              <a:srgbClr val="CAD3DF"/>
            </a:solidFill>
            <a:prstDash val="solid"/>
          </a:ln>
        </p:spPr>
      </p:sp>
      <p:sp>
        <p:nvSpPr>
          <p:cNvPr id="6" name="Shape 4"/>
          <p:cNvSpPr/>
          <p:nvPr/>
        </p:nvSpPr>
        <p:spPr>
          <a:xfrm>
            <a:off x="960120" y="2331720"/>
            <a:ext cx="457200" cy="457200"/>
          </a:xfrm>
          <a:prstGeom prst="ellipse">
            <a:avLst/>
          </a:prstGeom>
          <a:solidFill>
            <a:srgbClr val="1F2933"/>
          </a:solidFill>
          <a:ln w="12700">
            <a:solidFill>
              <a:srgbClr val="1F2933"/>
            </a:solidFill>
            <a:prstDash val="solid"/>
          </a:ln>
        </p:spPr>
      </p:sp>
      <p:sp>
        <p:nvSpPr>
          <p:cNvPr id="7" name="Text 5"/>
          <p:cNvSpPr/>
          <p:nvPr/>
        </p:nvSpPr>
        <p:spPr>
          <a:xfrm>
            <a:off x="548640" y="1901952"/>
            <a:ext cx="1280160" cy="164592"/>
          </a:xfrm>
          <a:prstGeom prst="rect">
            <a:avLst/>
          </a:prstGeom>
          <a:noFill/>
          <a:ln/>
        </p:spPr>
        <p:txBody>
          <a:bodyPr wrap="square" lIns="0" tIns="0" rIns="0" bIns="0" rtlCol="0" anchor="ctr"/>
          <a:lstStyle/>
          <a:p>
            <a:pPr algn="ctr" indent="0" marL="0">
              <a:buNone/>
            </a:pPr>
            <a:r>
              <a:rPr lang="en-US" sz="1200" b="1" dirty="0">
                <a:solidFill>
                  <a:srgbClr val="1F2933"/>
                </a:solidFill>
                <a:latin typeface="Arial" pitchFamily="34" charset="0"/>
                <a:ea typeface="Arial" pitchFamily="34" charset="-122"/>
                <a:cs typeface="Arial" pitchFamily="34" charset="-120"/>
              </a:rPr>
              <a:t>Griffith / Irwin</a:t>
            </a:r>
            <a:endParaRPr lang="en-US" sz="1200" dirty="0"/>
          </a:p>
        </p:txBody>
      </p:sp>
      <p:sp>
        <p:nvSpPr>
          <p:cNvPr id="8" name="Text 6"/>
          <p:cNvSpPr/>
          <p:nvPr/>
        </p:nvSpPr>
        <p:spPr>
          <a:xfrm>
            <a:off x="457200" y="2944368"/>
            <a:ext cx="1508760" cy="164592"/>
          </a:xfrm>
          <a:prstGeom prst="rect">
            <a:avLst/>
          </a:prstGeom>
          <a:noFill/>
          <a:ln/>
        </p:spPr>
        <p:txBody>
          <a:bodyPr wrap="square" lIns="0" tIns="0" rIns="0" bIns="0" rtlCol="0" anchor="ctr"/>
          <a:lstStyle/>
          <a:p>
            <a:pPr algn="ctr" indent="0" marL="0">
              <a:buNone/>
            </a:pPr>
            <a:r>
              <a:rPr lang="en-US" sz="950" dirty="0">
                <a:solidFill>
                  <a:srgbClr val="52606D"/>
                </a:solidFill>
                <a:latin typeface="Arial" pitchFamily="34" charset="0"/>
                <a:ea typeface="Arial" pitchFamily="34" charset="-122"/>
                <a:cs typeface="Arial" pitchFamily="34" charset="-120"/>
              </a:rPr>
              <a:t>linear energy ideas</a:t>
            </a:r>
            <a:endParaRPr lang="en-US" sz="950" dirty="0"/>
          </a:p>
        </p:txBody>
      </p:sp>
      <p:sp>
        <p:nvSpPr>
          <p:cNvPr id="9" name="Shape 7"/>
          <p:cNvSpPr/>
          <p:nvPr/>
        </p:nvSpPr>
        <p:spPr>
          <a:xfrm>
            <a:off x="3246120" y="2331720"/>
            <a:ext cx="457200" cy="457200"/>
          </a:xfrm>
          <a:prstGeom prst="ellipse">
            <a:avLst/>
          </a:prstGeom>
          <a:solidFill>
            <a:srgbClr val="1F6B8F"/>
          </a:solidFill>
          <a:ln w="12700">
            <a:solidFill>
              <a:srgbClr val="1F6B8F"/>
            </a:solidFill>
            <a:prstDash val="solid"/>
          </a:ln>
        </p:spPr>
      </p:sp>
      <p:sp>
        <p:nvSpPr>
          <p:cNvPr id="10" name="Text 8"/>
          <p:cNvSpPr/>
          <p:nvPr/>
        </p:nvSpPr>
        <p:spPr>
          <a:xfrm>
            <a:off x="2834640" y="1901952"/>
            <a:ext cx="1280160" cy="164592"/>
          </a:xfrm>
          <a:prstGeom prst="rect">
            <a:avLst/>
          </a:prstGeom>
          <a:noFill/>
          <a:ln/>
        </p:spPr>
        <p:txBody>
          <a:bodyPr wrap="square" lIns="0" tIns="0" rIns="0" bIns="0" rtlCol="0" anchor="ctr"/>
          <a:lstStyle/>
          <a:p>
            <a:pPr algn="ctr" indent="0" marL="0">
              <a:buNone/>
            </a:pPr>
            <a:r>
              <a:rPr lang="en-US" sz="1200" b="1" dirty="0">
                <a:solidFill>
                  <a:srgbClr val="1F6B8F"/>
                </a:solidFill>
                <a:latin typeface="Arial" pitchFamily="34" charset="0"/>
                <a:ea typeface="Arial" pitchFamily="34" charset="-122"/>
                <a:cs typeface="Arial" pitchFamily="34" charset="-120"/>
              </a:rPr>
              <a:t>Rice 1968</a:t>
            </a:r>
            <a:endParaRPr lang="en-US" sz="1200" dirty="0"/>
          </a:p>
        </p:txBody>
      </p:sp>
      <p:sp>
        <p:nvSpPr>
          <p:cNvPr id="11" name="Text 9"/>
          <p:cNvSpPr/>
          <p:nvPr/>
        </p:nvSpPr>
        <p:spPr>
          <a:xfrm>
            <a:off x="2743200" y="2944368"/>
            <a:ext cx="1508760" cy="164592"/>
          </a:xfrm>
          <a:prstGeom prst="rect">
            <a:avLst/>
          </a:prstGeom>
          <a:noFill/>
          <a:ln/>
        </p:spPr>
        <p:txBody>
          <a:bodyPr wrap="square" lIns="0" tIns="0" rIns="0" bIns="0" rtlCol="0" anchor="ctr"/>
          <a:lstStyle/>
          <a:p>
            <a:pPr algn="ctr" indent="0" marL="0">
              <a:buNone/>
            </a:pPr>
            <a:r>
              <a:rPr lang="en-US" sz="950" dirty="0">
                <a:solidFill>
                  <a:srgbClr val="52606D"/>
                </a:solidFill>
                <a:latin typeface="Arial" pitchFamily="34" charset="0"/>
                <a:ea typeface="Arial" pitchFamily="34" charset="-122"/>
                <a:cs typeface="Arial" pitchFamily="34" charset="-120"/>
              </a:rPr>
              <a:t>path-independent J</a:t>
            </a:r>
            <a:endParaRPr lang="en-US" sz="950" dirty="0"/>
          </a:p>
        </p:txBody>
      </p:sp>
      <p:sp>
        <p:nvSpPr>
          <p:cNvPr id="12" name="Shape 10"/>
          <p:cNvSpPr/>
          <p:nvPr/>
        </p:nvSpPr>
        <p:spPr>
          <a:xfrm>
            <a:off x="5532120" y="2331720"/>
            <a:ext cx="457200" cy="457200"/>
          </a:xfrm>
          <a:prstGeom prst="ellipse">
            <a:avLst/>
          </a:prstGeom>
          <a:solidFill>
            <a:srgbClr val="D9972B"/>
          </a:solidFill>
          <a:ln w="12700">
            <a:solidFill>
              <a:srgbClr val="D9972B"/>
            </a:solidFill>
            <a:prstDash val="solid"/>
          </a:ln>
        </p:spPr>
      </p:sp>
      <p:sp>
        <p:nvSpPr>
          <p:cNvPr id="13" name="Text 11"/>
          <p:cNvSpPr/>
          <p:nvPr/>
        </p:nvSpPr>
        <p:spPr>
          <a:xfrm>
            <a:off x="5120640" y="1901952"/>
            <a:ext cx="1280160" cy="164592"/>
          </a:xfrm>
          <a:prstGeom prst="rect">
            <a:avLst/>
          </a:prstGeom>
          <a:noFill/>
          <a:ln/>
        </p:spPr>
        <p:txBody>
          <a:bodyPr wrap="square" lIns="0" tIns="0" rIns="0" bIns="0" rtlCol="0" anchor="ctr"/>
          <a:lstStyle/>
          <a:p>
            <a:pPr algn="ctr" indent="0" marL="0">
              <a:buNone/>
            </a:pPr>
            <a:r>
              <a:rPr lang="en-US" sz="1200" b="1" dirty="0">
                <a:solidFill>
                  <a:srgbClr val="D9972B"/>
                </a:solidFill>
                <a:latin typeface="Arial" pitchFamily="34" charset="0"/>
                <a:ea typeface="Arial" pitchFamily="34" charset="-122"/>
                <a:cs typeface="Arial" pitchFamily="34" charset="-120"/>
              </a:rPr>
              <a:t>HRR fields</a:t>
            </a:r>
            <a:endParaRPr lang="en-US" sz="1200" dirty="0"/>
          </a:p>
        </p:txBody>
      </p:sp>
      <p:sp>
        <p:nvSpPr>
          <p:cNvPr id="14" name="Text 12"/>
          <p:cNvSpPr/>
          <p:nvPr/>
        </p:nvSpPr>
        <p:spPr>
          <a:xfrm>
            <a:off x="5029200" y="2944368"/>
            <a:ext cx="1508760" cy="164592"/>
          </a:xfrm>
          <a:prstGeom prst="rect">
            <a:avLst/>
          </a:prstGeom>
          <a:noFill/>
          <a:ln/>
        </p:spPr>
        <p:txBody>
          <a:bodyPr wrap="square" lIns="0" tIns="0" rIns="0" bIns="0" rtlCol="0" anchor="ctr"/>
          <a:lstStyle/>
          <a:p>
            <a:pPr algn="ctr" indent="0" marL="0">
              <a:buNone/>
            </a:pPr>
            <a:r>
              <a:rPr lang="en-US" sz="950" dirty="0">
                <a:solidFill>
                  <a:srgbClr val="52606D"/>
                </a:solidFill>
                <a:latin typeface="Arial" pitchFamily="34" charset="0"/>
                <a:ea typeface="Arial" pitchFamily="34" charset="-122"/>
                <a:cs typeface="Arial" pitchFamily="34" charset="-120"/>
              </a:rPr>
              <a:t>J-controlled tip fields</a:t>
            </a:r>
            <a:endParaRPr lang="en-US" sz="950" dirty="0"/>
          </a:p>
        </p:txBody>
      </p:sp>
      <p:sp>
        <p:nvSpPr>
          <p:cNvPr id="15" name="Shape 13"/>
          <p:cNvSpPr/>
          <p:nvPr/>
        </p:nvSpPr>
        <p:spPr>
          <a:xfrm>
            <a:off x="7543800" y="2331720"/>
            <a:ext cx="457200" cy="457200"/>
          </a:xfrm>
          <a:prstGeom prst="ellipse">
            <a:avLst/>
          </a:prstGeom>
          <a:solidFill>
            <a:srgbClr val="5F8D4E"/>
          </a:solidFill>
          <a:ln w="12700">
            <a:solidFill>
              <a:srgbClr val="5F8D4E"/>
            </a:solidFill>
            <a:prstDash val="solid"/>
          </a:ln>
        </p:spPr>
      </p:sp>
      <p:sp>
        <p:nvSpPr>
          <p:cNvPr id="16" name="Text 14"/>
          <p:cNvSpPr/>
          <p:nvPr/>
        </p:nvSpPr>
        <p:spPr>
          <a:xfrm>
            <a:off x="7132320" y="1901952"/>
            <a:ext cx="1280160" cy="164592"/>
          </a:xfrm>
          <a:prstGeom prst="rect">
            <a:avLst/>
          </a:prstGeom>
          <a:noFill/>
          <a:ln/>
        </p:spPr>
        <p:txBody>
          <a:bodyPr wrap="square" lIns="0" tIns="0" rIns="0" bIns="0" rtlCol="0" anchor="ctr"/>
          <a:lstStyle/>
          <a:p>
            <a:pPr algn="ctr" indent="0" marL="0">
              <a:buNone/>
            </a:pPr>
            <a:r>
              <a:rPr lang="en-US" sz="1200" b="1" dirty="0">
                <a:solidFill>
                  <a:srgbClr val="5F8D4E"/>
                </a:solidFill>
                <a:latin typeface="Arial" pitchFamily="34" charset="0"/>
                <a:ea typeface="Arial" pitchFamily="34" charset="-122"/>
                <a:cs typeface="Arial" pitchFamily="34" charset="-120"/>
              </a:rPr>
              <a:t>Testing</a:t>
            </a:r>
            <a:endParaRPr lang="en-US" sz="1200" dirty="0"/>
          </a:p>
        </p:txBody>
      </p:sp>
      <p:sp>
        <p:nvSpPr>
          <p:cNvPr id="17" name="Text 15"/>
          <p:cNvSpPr/>
          <p:nvPr/>
        </p:nvSpPr>
        <p:spPr>
          <a:xfrm>
            <a:off x="7040880" y="2944368"/>
            <a:ext cx="1508760" cy="164592"/>
          </a:xfrm>
          <a:prstGeom prst="rect">
            <a:avLst/>
          </a:prstGeom>
          <a:noFill/>
          <a:ln/>
        </p:spPr>
        <p:txBody>
          <a:bodyPr wrap="square" lIns="0" tIns="0" rIns="0" bIns="0" rtlCol="0" anchor="ctr"/>
          <a:lstStyle/>
          <a:p>
            <a:pPr algn="ctr" indent="0" marL="0">
              <a:buNone/>
            </a:pPr>
            <a:r>
              <a:rPr lang="en-US" sz="950" dirty="0">
                <a:solidFill>
                  <a:srgbClr val="52606D"/>
                </a:solidFill>
                <a:latin typeface="Arial" pitchFamily="34" charset="0"/>
                <a:ea typeface="Arial" pitchFamily="34" charset="-122"/>
                <a:cs typeface="Arial" pitchFamily="34" charset="-120"/>
              </a:rPr>
              <a:t>elastic-plastic fracture</a:t>
            </a:r>
            <a:endParaRPr lang="en-US" sz="950" dirty="0"/>
          </a:p>
        </p:txBody>
      </p:sp>
      <p:sp>
        <p:nvSpPr>
          <p:cNvPr id="19" name="Text 16"/>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9/10</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38912" y="228600"/>
            <a:ext cx="2011680" cy="182880"/>
          </a:xfrm>
          <a:prstGeom prst="rect">
            <a:avLst/>
          </a:prstGeom>
          <a:noFill/>
          <a:ln/>
        </p:spPr>
        <p:txBody>
          <a:bodyPr wrap="square" lIns="0" tIns="0" rIns="0" bIns="0" rtlCol="0" anchor="ctr"/>
          <a:lstStyle/>
          <a:p>
            <a:pPr indent="0" marL="0">
              <a:buNone/>
            </a:pPr>
            <a:r>
              <a:rPr lang="en-US" sz="850" b="1" dirty="0">
                <a:solidFill>
                  <a:srgbClr val="1F6B8F"/>
                </a:solidFill>
                <a:latin typeface="Arial" pitchFamily="34" charset="0"/>
                <a:ea typeface="Arial" pitchFamily="34" charset="-122"/>
                <a:cs typeface="Arial" pitchFamily="34" charset="-120"/>
              </a:rPr>
              <a:t>Rice 1968</a:t>
            </a:r>
            <a:endParaRPr lang="en-US" sz="850" dirty="0"/>
          </a:p>
        </p:txBody>
      </p:sp>
      <p:sp>
        <p:nvSpPr>
          <p:cNvPr id="3" name="Text 1"/>
          <p:cNvSpPr/>
          <p:nvPr/>
        </p:nvSpPr>
        <p:spPr>
          <a:xfrm>
            <a:off x="438912" y="438912"/>
            <a:ext cx="8138160" cy="411480"/>
          </a:xfrm>
          <a:prstGeom prst="rect">
            <a:avLst/>
          </a:prstGeom>
          <a:noFill/>
          <a:ln/>
        </p:spPr>
        <p:txBody>
          <a:bodyPr wrap="square" lIns="254" tIns="254" rIns="254" bIns="254" rtlCol="0" anchor="ctr"/>
          <a:lstStyle/>
          <a:p>
            <a:pPr indent="0" marL="0">
              <a:buNone/>
            </a:pPr>
            <a:r>
              <a:rPr lang="en-US" sz="2200" b="1" dirty="0">
                <a:solidFill>
                  <a:srgbClr val="1F2933"/>
                </a:solidFill>
                <a:latin typeface="Arial" pitchFamily="34" charset="0"/>
                <a:ea typeface="Arial" pitchFamily="34" charset="-122"/>
                <a:cs typeface="Arial" pitchFamily="34" charset="-120"/>
              </a:rPr>
              <a:t>Final Takeaway</a:t>
            </a:r>
            <a:endParaRPr lang="en-US" sz="2200" dirty="0"/>
          </a:p>
        </p:txBody>
      </p:sp>
      <p:sp>
        <p:nvSpPr>
          <p:cNvPr id="4" name="Shape 2"/>
          <p:cNvSpPr/>
          <p:nvPr/>
        </p:nvSpPr>
        <p:spPr>
          <a:xfrm>
            <a:off x="438912" y="914400"/>
            <a:ext cx="7909560" cy="0"/>
          </a:xfrm>
          <a:prstGeom prst="line">
            <a:avLst/>
          </a:prstGeom>
          <a:noFill/>
          <a:ln w="14605">
            <a:solidFill>
              <a:srgbClr val="CAD3DF"/>
            </a:solidFill>
            <a:prstDash val="solid"/>
          </a:ln>
        </p:spPr>
      </p:sp>
      <p:sp>
        <p:nvSpPr>
          <p:cNvPr id="5" name="Shape 3"/>
          <p:cNvSpPr/>
          <p:nvPr/>
        </p:nvSpPr>
        <p:spPr>
          <a:xfrm>
            <a:off x="1051560" y="1847088"/>
            <a:ext cx="1691640" cy="914400"/>
          </a:xfrm>
          <a:prstGeom prst="rect">
            <a:avLst/>
          </a:prstGeom>
          <a:solidFill>
            <a:srgbClr val="FFFFFF"/>
          </a:solidFill>
          <a:ln w="20320">
            <a:solidFill>
              <a:srgbClr val="1F6B8F"/>
            </a:solidFill>
            <a:prstDash val="solid"/>
          </a:ln>
        </p:spPr>
      </p:sp>
      <p:sp>
        <p:nvSpPr>
          <p:cNvPr id="6" name="Text 4"/>
          <p:cNvSpPr/>
          <p:nvPr/>
        </p:nvSpPr>
        <p:spPr>
          <a:xfrm>
            <a:off x="1234440" y="2212848"/>
            <a:ext cx="1325880" cy="164592"/>
          </a:xfrm>
          <a:prstGeom prst="rect">
            <a:avLst/>
          </a:prstGeom>
          <a:noFill/>
          <a:ln/>
        </p:spPr>
        <p:txBody>
          <a:bodyPr wrap="square" lIns="0" tIns="0" rIns="0" bIns="0" rtlCol="0" anchor="ctr"/>
          <a:lstStyle/>
          <a:p>
            <a:pPr algn="ctr" indent="0" marL="0">
              <a:buNone/>
            </a:pPr>
            <a:r>
              <a:rPr lang="en-US" sz="1700" b="1" dirty="0">
                <a:solidFill>
                  <a:srgbClr val="1F6B8F"/>
                </a:solidFill>
                <a:latin typeface="Arial" pitchFamily="34" charset="0"/>
                <a:ea typeface="Arial" pitchFamily="34" charset="-122"/>
                <a:cs typeface="Arial" pitchFamily="34" charset="-120"/>
              </a:rPr>
              <a:t>load + crack</a:t>
            </a:r>
            <a:endParaRPr lang="en-US" sz="1700" dirty="0"/>
          </a:p>
        </p:txBody>
      </p:sp>
      <p:sp>
        <p:nvSpPr>
          <p:cNvPr id="7" name="Shape 5"/>
          <p:cNvSpPr/>
          <p:nvPr/>
        </p:nvSpPr>
        <p:spPr>
          <a:xfrm>
            <a:off x="3017520" y="2103120"/>
            <a:ext cx="411480" cy="384048"/>
          </a:xfrm>
          <a:prstGeom prst="rightArrow">
            <a:avLst/>
          </a:prstGeom>
          <a:solidFill>
            <a:srgbClr val="1F2933"/>
          </a:solidFill>
          <a:ln w="12700">
            <a:solidFill>
              <a:srgbClr val="1F2933"/>
            </a:solidFill>
            <a:prstDash val="solid"/>
          </a:ln>
        </p:spPr>
      </p:sp>
      <p:sp>
        <p:nvSpPr>
          <p:cNvPr id="8" name="Shape 6"/>
          <p:cNvSpPr/>
          <p:nvPr/>
        </p:nvSpPr>
        <p:spPr>
          <a:xfrm>
            <a:off x="3840480" y="1847088"/>
            <a:ext cx="1691640" cy="914400"/>
          </a:xfrm>
          <a:prstGeom prst="rect">
            <a:avLst/>
          </a:prstGeom>
          <a:solidFill>
            <a:srgbClr val="FFFFFF"/>
          </a:solidFill>
          <a:ln w="20320">
            <a:solidFill>
              <a:srgbClr val="D9972B"/>
            </a:solidFill>
            <a:prstDash val="solid"/>
          </a:ln>
        </p:spPr>
      </p:sp>
      <p:sp>
        <p:nvSpPr>
          <p:cNvPr id="9" name="Text 7"/>
          <p:cNvSpPr/>
          <p:nvPr/>
        </p:nvSpPr>
        <p:spPr>
          <a:xfrm>
            <a:off x="4023360" y="2212848"/>
            <a:ext cx="1325880" cy="164592"/>
          </a:xfrm>
          <a:prstGeom prst="rect">
            <a:avLst/>
          </a:prstGeom>
          <a:noFill/>
          <a:ln/>
        </p:spPr>
        <p:txBody>
          <a:bodyPr wrap="square" lIns="0" tIns="0" rIns="0" bIns="0" rtlCol="0" anchor="ctr"/>
          <a:lstStyle/>
          <a:p>
            <a:pPr algn="ctr" indent="0" marL="0">
              <a:buNone/>
            </a:pPr>
            <a:r>
              <a:rPr lang="en-US" sz="1700" b="1" dirty="0">
                <a:solidFill>
                  <a:srgbClr val="D9972B"/>
                </a:solidFill>
                <a:latin typeface="Arial" pitchFamily="34" charset="0"/>
                <a:ea typeface="Arial" pitchFamily="34" charset="-122"/>
                <a:cs typeface="Arial" pitchFamily="34" charset="-120"/>
              </a:rPr>
              <a:t>J</a:t>
            </a:r>
            <a:endParaRPr lang="en-US" sz="1700" dirty="0"/>
          </a:p>
        </p:txBody>
      </p:sp>
      <p:sp>
        <p:nvSpPr>
          <p:cNvPr id="10" name="Shape 8"/>
          <p:cNvSpPr/>
          <p:nvPr/>
        </p:nvSpPr>
        <p:spPr>
          <a:xfrm>
            <a:off x="5806440" y="2103120"/>
            <a:ext cx="411480" cy="384048"/>
          </a:xfrm>
          <a:prstGeom prst="rightArrow">
            <a:avLst/>
          </a:prstGeom>
          <a:solidFill>
            <a:srgbClr val="1F2933"/>
          </a:solidFill>
          <a:ln w="12700">
            <a:solidFill>
              <a:srgbClr val="1F2933"/>
            </a:solidFill>
            <a:prstDash val="solid"/>
          </a:ln>
        </p:spPr>
      </p:sp>
      <p:sp>
        <p:nvSpPr>
          <p:cNvPr id="11" name="Shape 9"/>
          <p:cNvSpPr/>
          <p:nvPr/>
        </p:nvSpPr>
        <p:spPr>
          <a:xfrm>
            <a:off x="6629400" y="1847088"/>
            <a:ext cx="1691640" cy="914400"/>
          </a:xfrm>
          <a:prstGeom prst="rect">
            <a:avLst/>
          </a:prstGeom>
          <a:solidFill>
            <a:srgbClr val="FFFFFF"/>
          </a:solidFill>
          <a:ln w="20320">
            <a:solidFill>
              <a:srgbClr val="5F8D4E"/>
            </a:solidFill>
            <a:prstDash val="solid"/>
          </a:ln>
        </p:spPr>
      </p:sp>
      <p:sp>
        <p:nvSpPr>
          <p:cNvPr id="12" name="Text 10"/>
          <p:cNvSpPr/>
          <p:nvPr/>
        </p:nvSpPr>
        <p:spPr>
          <a:xfrm>
            <a:off x="6812280" y="2212848"/>
            <a:ext cx="1325880" cy="164592"/>
          </a:xfrm>
          <a:prstGeom prst="rect">
            <a:avLst/>
          </a:prstGeom>
          <a:noFill/>
          <a:ln/>
        </p:spPr>
        <p:txBody>
          <a:bodyPr wrap="square" lIns="0" tIns="0" rIns="0" bIns="0" rtlCol="0" anchor="ctr"/>
          <a:lstStyle/>
          <a:p>
            <a:pPr algn="ctr" indent="0" marL="0">
              <a:buNone/>
            </a:pPr>
            <a:r>
              <a:rPr lang="en-US" sz="1700" b="1" dirty="0">
                <a:solidFill>
                  <a:srgbClr val="5F8D4E"/>
                </a:solidFill>
                <a:latin typeface="Arial" pitchFamily="34" charset="0"/>
                <a:ea typeface="Arial" pitchFamily="34" charset="-122"/>
                <a:cs typeface="Arial" pitchFamily="34" charset="-120"/>
              </a:rPr>
              <a:t>decision</a:t>
            </a:r>
            <a:endParaRPr lang="en-US" sz="1700" dirty="0"/>
          </a:p>
        </p:txBody>
      </p:sp>
      <p:sp>
        <p:nvSpPr>
          <p:cNvPr id="13" name="Shape 11"/>
          <p:cNvSpPr/>
          <p:nvPr/>
        </p:nvSpPr>
        <p:spPr>
          <a:xfrm>
            <a:off x="1508760" y="3886200"/>
            <a:ext cx="6126480" cy="438912"/>
          </a:xfrm>
          <a:prstGeom prst="rect">
            <a:avLst/>
          </a:prstGeom>
          <a:solidFill>
            <a:srgbClr val="1F2933"/>
          </a:solidFill>
          <a:ln w="12700">
            <a:solidFill>
              <a:srgbClr val="1F2933"/>
            </a:solidFill>
            <a:prstDash val="solid"/>
          </a:ln>
        </p:spPr>
      </p:sp>
      <p:sp>
        <p:nvSpPr>
          <p:cNvPr id="14" name="Text 12"/>
          <p:cNvSpPr/>
          <p:nvPr/>
        </p:nvSpPr>
        <p:spPr>
          <a:xfrm>
            <a:off x="1737360" y="4023360"/>
            <a:ext cx="5669280" cy="146304"/>
          </a:xfrm>
          <a:prstGeom prst="rect">
            <a:avLst/>
          </a:prstGeom>
          <a:noFill/>
          <a:ln/>
        </p:spPr>
        <p:txBody>
          <a:bodyPr wrap="square" lIns="0" tIns="0" rIns="0" bIns="0" rtlCol="0" anchor="ctr"/>
          <a:lstStyle/>
          <a:p>
            <a:pPr algn="ctr" indent="0" marL="0">
              <a:buNone/>
            </a:pPr>
            <a:r>
              <a:rPr lang="en-US" sz="1250" b="1" dirty="0">
                <a:solidFill>
                  <a:srgbClr val="FFFFFF"/>
                </a:solidFill>
                <a:latin typeface="Arial" pitchFamily="34" charset="0"/>
                <a:ea typeface="Arial" pitchFamily="34" charset="-122"/>
                <a:cs typeface="Arial" pitchFamily="34" charset="-120"/>
              </a:rPr>
              <a:t>Rice's idea turns crack-tip danger into a measurable energy quantity.</a:t>
            </a:r>
            <a:endParaRPr lang="en-US" sz="1250" dirty="0"/>
          </a:p>
        </p:txBody>
      </p:sp>
      <p:sp>
        <p:nvSpPr>
          <p:cNvPr id="16" name="Text 13"/>
          <p:cNvSpPr/>
          <p:nvPr/>
        </p:nvSpPr>
        <p:spPr>
          <a:xfrm>
            <a:off x="8229600" y="4882896"/>
            <a:ext cx="502920" cy="146304"/>
          </a:xfrm>
          <a:prstGeom prst="rect">
            <a:avLst/>
          </a:prstGeom>
          <a:noFill/>
          <a:ln/>
        </p:spPr>
        <p:txBody>
          <a:bodyPr wrap="square" lIns="0" tIns="0" rIns="0" bIns="0" rtlCol="0" anchor="ctr"/>
          <a:lstStyle/>
          <a:p>
            <a:pPr algn="r" indent="0" marL="0">
              <a:buNone/>
            </a:pPr>
            <a:r>
              <a:rPr lang="en-US" sz="800" dirty="0">
                <a:solidFill>
                  <a:srgbClr val="52606D"/>
                </a:solidFill>
                <a:latin typeface="Arial" pitchFamily="34" charset="0"/>
                <a:ea typeface="Arial" pitchFamily="34" charset="-122"/>
                <a:cs typeface="Arial" pitchFamily="34" charset="-120"/>
              </a:rPr>
              <a:t>10/10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C:\AI_Codex\mechanical-portfolio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Rice's J-Integral: A Simple Way to Measure Crack Danger</dc:title>
  <dc:subject>Easy Rice 1968 J-integral presentation</dc:subject>
  <dc:creator>Codex</dc:creator>
  <cp:lastModifiedBy>Codex</cp:lastModifiedBy>
  <cp:revision>1</cp:revision>
  <dcterms:created xsi:type="dcterms:W3CDTF">2026-06-08T15:31:41Z</dcterms:created>
  <dcterms:modified xsi:type="dcterms:W3CDTF">2026-06-08T15:31:41Z</dcterms:modified>
</cp:coreProperties>
</file>